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Helvetica World Bold" charset="1" panose="020B0800040000020004"/>
      <p:regular r:id="rId20"/>
    </p:embeddedFont>
    <p:embeddedFont>
      <p:font typeface="Helvetica World" charset="1" panose="020B0500040000020004"/>
      <p:regular r:id="rId21"/>
    </p:embeddedFont>
    <p:embeddedFont>
      <p:font typeface="Garet Bold" charset="1" panose="00000000000000000000"/>
      <p:regular r:id="rId22"/>
    </p:embeddedFont>
    <p:embeddedFont>
      <p:font typeface="Open Sans Bold" charset="1" panose="00000000000000000000"/>
      <p:regular r:id="rId23"/>
    </p:embeddedFont>
    <p:embeddedFont>
      <p:font typeface="Open Sans" charset="1" panose="00000000000000000000"/>
      <p:regular r:id="rId24"/>
    </p:embeddedFont>
    <p:embeddedFont>
      <p:font typeface="Open Sans Bold Italics"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Masters/notesMaster1.xml" Type="http://schemas.openxmlformats.org/officeDocument/2006/relationships/notesMaster"/><Relationship Id="rId26" Target="theme/theme2.xml" Type="http://schemas.openxmlformats.org/officeDocument/2006/relationships/theme"/><Relationship Id="rId27" Target="notesSlides/notesSlide1.xml" Type="http://schemas.openxmlformats.org/officeDocument/2006/relationships/notesSlide"/><Relationship Id="rId28" Target="notesSlides/notesSlide2.xml" Type="http://schemas.openxmlformats.org/officeDocument/2006/relationships/notesSlide"/><Relationship Id="rId29" Target="notesSlides/notesSlide3.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7109187"/>
            <a:ext cx="1028700" cy="3177813"/>
            <a:chOff x="0" y="0"/>
            <a:chExt cx="812800" cy="2510865"/>
          </a:xfrm>
        </p:grpSpPr>
        <p:sp>
          <p:nvSpPr>
            <p:cNvPr name="Freeform 3" id="3"/>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4" id="4"/>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59300" y="0"/>
            <a:ext cx="1084878" cy="2882489"/>
            <a:chOff x="0" y="0"/>
            <a:chExt cx="857188" cy="2277522"/>
          </a:xfrm>
        </p:grpSpPr>
        <p:sp>
          <p:nvSpPr>
            <p:cNvPr name="Freeform 6" id="6"/>
            <p:cNvSpPr/>
            <p:nvPr/>
          </p:nvSpPr>
          <p:spPr>
            <a:xfrm flipH="false" flipV="false" rot="0">
              <a:off x="0" y="0"/>
              <a:ext cx="857188" cy="2277522"/>
            </a:xfrm>
            <a:custGeom>
              <a:avLst/>
              <a:gdLst/>
              <a:ahLst/>
              <a:cxnLst/>
              <a:rect r="r" b="b" t="t" l="l"/>
              <a:pathLst>
                <a:path h="2277522" w="857188">
                  <a:moveTo>
                    <a:pt x="0" y="0"/>
                  </a:moveTo>
                  <a:lnTo>
                    <a:pt x="857188" y="0"/>
                  </a:lnTo>
                  <a:lnTo>
                    <a:pt x="857188" y="2277522"/>
                  </a:lnTo>
                  <a:lnTo>
                    <a:pt x="0" y="2277522"/>
                  </a:lnTo>
                  <a:close/>
                </a:path>
              </a:pathLst>
            </a:custGeom>
            <a:solidFill>
              <a:srgbClr val="0345E4"/>
            </a:solidFill>
          </p:spPr>
        </p:sp>
        <p:sp>
          <p:nvSpPr>
            <p:cNvPr name="TextBox 7" id="7"/>
            <p:cNvSpPr txBox="true"/>
            <p:nvPr/>
          </p:nvSpPr>
          <p:spPr>
            <a:xfrm>
              <a:off x="0" y="-38100"/>
              <a:ext cx="857188" cy="231562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09914" y="0"/>
            <a:ext cx="1694792" cy="10287000"/>
            <a:chOff x="0" y="0"/>
            <a:chExt cx="446365" cy="2709333"/>
          </a:xfrm>
        </p:grpSpPr>
        <p:sp>
          <p:nvSpPr>
            <p:cNvPr name="Freeform 9" id="9"/>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04AAD"/>
            </a:solidFill>
          </p:spPr>
        </p:sp>
        <p:sp>
          <p:nvSpPr>
            <p:cNvPr name="TextBox 10" id="10"/>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776354" y="8698094"/>
            <a:ext cx="2545888" cy="254588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084878" y="2882489"/>
            <a:ext cx="17259300" cy="4497795"/>
          </a:xfrm>
          <a:custGeom>
            <a:avLst/>
            <a:gdLst/>
            <a:ahLst/>
            <a:cxnLst/>
            <a:rect r="r" b="b" t="t" l="l"/>
            <a:pathLst>
              <a:path h="4497795" w="17259300">
                <a:moveTo>
                  <a:pt x="0" y="0"/>
                </a:moveTo>
                <a:lnTo>
                  <a:pt x="17259300" y="0"/>
                </a:lnTo>
                <a:lnTo>
                  <a:pt x="17259300" y="4497796"/>
                </a:lnTo>
                <a:lnTo>
                  <a:pt x="0" y="4497796"/>
                </a:lnTo>
                <a:lnTo>
                  <a:pt x="0" y="0"/>
                </a:lnTo>
                <a:close/>
              </a:path>
            </a:pathLst>
          </a:custGeom>
          <a:blipFill>
            <a:blip r:embed="rId2"/>
            <a:stretch>
              <a:fillRect l="0" t="0" r="-33444" b="-7859"/>
            </a:stretch>
          </a:blipFill>
        </p:spPr>
      </p:sp>
      <p:sp>
        <p:nvSpPr>
          <p:cNvPr name="TextBox 15" id="15"/>
          <p:cNvSpPr txBox="true"/>
          <p:nvPr/>
        </p:nvSpPr>
        <p:spPr>
          <a:xfrm rot="0">
            <a:off x="2444734" y="3443267"/>
            <a:ext cx="5813582" cy="3419516"/>
          </a:xfrm>
          <a:prstGeom prst="rect">
            <a:avLst/>
          </a:prstGeom>
        </p:spPr>
        <p:txBody>
          <a:bodyPr anchor="t" rtlCol="false" tIns="0" lIns="0" bIns="0" rIns="0">
            <a:spAutoFit/>
          </a:bodyPr>
          <a:lstStyle/>
          <a:p>
            <a:pPr algn="ctr">
              <a:lnSpc>
                <a:spcPts val="8202"/>
              </a:lnSpc>
            </a:pPr>
            <a:r>
              <a:rPr lang="en-US" b="true" sz="7132">
                <a:solidFill>
                  <a:srgbClr val="FFFFFF"/>
                </a:solidFill>
                <a:latin typeface="Helvetica World Bold"/>
                <a:ea typeface="Helvetica World Bold"/>
                <a:cs typeface="Helvetica World Bold"/>
                <a:sym typeface="Helvetica World Bold"/>
              </a:rPr>
              <a:t>CATBOOST + </a:t>
            </a:r>
          </a:p>
          <a:p>
            <a:pPr algn="ctr">
              <a:lnSpc>
                <a:spcPts val="8202"/>
              </a:lnSpc>
            </a:pPr>
            <a:r>
              <a:rPr lang="en-US" b="true" sz="7132">
                <a:solidFill>
                  <a:srgbClr val="FFFFFF"/>
                </a:solidFill>
                <a:latin typeface="Helvetica World Bold"/>
                <a:ea typeface="Helvetica World Bold"/>
                <a:cs typeface="Helvetica World Bold"/>
                <a:sym typeface="Helvetica World Bold"/>
              </a:rPr>
              <a:t>LIGHTGBM</a:t>
            </a:r>
          </a:p>
        </p:txBody>
      </p:sp>
      <p:sp>
        <p:nvSpPr>
          <p:cNvPr name="TextBox 16" id="16"/>
          <p:cNvSpPr txBox="true"/>
          <p:nvPr/>
        </p:nvSpPr>
        <p:spPr>
          <a:xfrm rot="0">
            <a:off x="1379586" y="942975"/>
            <a:ext cx="11715949" cy="1679577"/>
          </a:xfrm>
          <a:prstGeom prst="rect">
            <a:avLst/>
          </a:prstGeom>
        </p:spPr>
        <p:txBody>
          <a:bodyPr anchor="t" rtlCol="false" tIns="0" lIns="0" bIns="0" rIns="0">
            <a:spAutoFit/>
          </a:bodyPr>
          <a:lstStyle/>
          <a:p>
            <a:pPr algn="l">
              <a:lnSpc>
                <a:spcPts val="6299"/>
              </a:lnSpc>
            </a:pPr>
            <a:r>
              <a:rPr lang="en-US" sz="4499" b="true">
                <a:solidFill>
                  <a:srgbClr val="0345E4"/>
                </a:solidFill>
                <a:latin typeface="Helvetica World Bold"/>
                <a:ea typeface="Helvetica World Bold"/>
                <a:cs typeface="Helvetica World Bold"/>
                <a:sym typeface="Helvetica World Bold"/>
              </a:rPr>
              <a:t>Báo cáo cuối kỳ</a:t>
            </a:r>
          </a:p>
          <a:p>
            <a:pPr algn="l">
              <a:lnSpc>
                <a:spcPts val="6299"/>
              </a:lnSpc>
              <a:spcBef>
                <a:spcPct val="0"/>
              </a:spcBef>
            </a:pPr>
            <a:r>
              <a:rPr lang="en-US" b="true" sz="4499">
                <a:solidFill>
                  <a:srgbClr val="0345E4"/>
                </a:solidFill>
                <a:latin typeface="Helvetica World Bold"/>
                <a:ea typeface="Helvetica World Bold"/>
                <a:cs typeface="Helvetica World Bold"/>
                <a:sym typeface="Helvetica World Bold"/>
              </a:rPr>
              <a:t>Lập trình Python cho Máy học - </a:t>
            </a:r>
            <a:r>
              <a:rPr lang="en-US" b="true" sz="4499">
                <a:solidFill>
                  <a:srgbClr val="0345E4"/>
                </a:solidFill>
                <a:latin typeface="Helvetica World Bold"/>
                <a:ea typeface="Helvetica World Bold"/>
                <a:cs typeface="Helvetica World Bold"/>
                <a:sym typeface="Helvetica World Bold"/>
              </a:rPr>
              <a:t>CS116.O21</a:t>
            </a:r>
          </a:p>
        </p:txBody>
      </p:sp>
      <p:sp>
        <p:nvSpPr>
          <p:cNvPr name="TextBox 17" id="17"/>
          <p:cNvSpPr txBox="true"/>
          <p:nvPr/>
        </p:nvSpPr>
        <p:spPr>
          <a:xfrm rot="0">
            <a:off x="17554129" y="9201150"/>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1</a:t>
            </a:r>
          </a:p>
        </p:txBody>
      </p:sp>
      <p:sp>
        <p:nvSpPr>
          <p:cNvPr name="TextBox 18" id="18"/>
          <p:cNvSpPr txBox="true"/>
          <p:nvPr/>
        </p:nvSpPr>
        <p:spPr>
          <a:xfrm rot="0">
            <a:off x="1379586" y="7847193"/>
            <a:ext cx="10547504" cy="1616077"/>
          </a:xfrm>
          <a:prstGeom prst="rect">
            <a:avLst/>
          </a:prstGeom>
        </p:spPr>
        <p:txBody>
          <a:bodyPr anchor="t" rtlCol="false" tIns="0" lIns="0" bIns="0" rIns="0">
            <a:spAutoFit/>
          </a:bodyPr>
          <a:lstStyle/>
          <a:p>
            <a:pPr algn="l">
              <a:lnSpc>
                <a:spcPts val="6299"/>
              </a:lnSpc>
            </a:pPr>
            <a:r>
              <a:rPr lang="en-US" sz="4499" b="true">
                <a:solidFill>
                  <a:srgbClr val="0345E4"/>
                </a:solidFill>
                <a:latin typeface="Helvetica World Bold"/>
                <a:ea typeface="Helvetica World Bold"/>
                <a:cs typeface="Helvetica World Bold"/>
                <a:sym typeface="Helvetica World Bold"/>
              </a:rPr>
              <a:t>GVHD: Th.S Nguyễn Vũ Anh Khoa</a:t>
            </a:r>
          </a:p>
          <a:p>
            <a:pPr algn="l">
              <a:lnSpc>
                <a:spcPts val="629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7109187"/>
            <a:ext cx="1028700" cy="3177813"/>
            <a:chOff x="0" y="0"/>
            <a:chExt cx="812800" cy="2510865"/>
          </a:xfrm>
        </p:grpSpPr>
        <p:sp>
          <p:nvSpPr>
            <p:cNvPr name="Freeform 3" id="3"/>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4" id="4"/>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0"/>
            <a:ext cx="1028700" cy="10287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7" id="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19123" y="8910443"/>
            <a:ext cx="1652841" cy="165284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022016" y="8698094"/>
            <a:ext cx="771724" cy="7717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217608" y="5992249"/>
            <a:ext cx="3744615" cy="37446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1045544" y="-1496295"/>
            <a:ext cx="8605482" cy="8605482"/>
            <a:chOff x="0" y="0"/>
            <a:chExt cx="13716000" cy="13716000"/>
          </a:xfrm>
        </p:grpSpPr>
        <p:sp>
          <p:nvSpPr>
            <p:cNvPr name="Freeform 18" id="18"/>
            <p:cNvSpPr/>
            <p:nvPr/>
          </p:nvSpPr>
          <p:spPr>
            <a:xfrm flipH="false" flipV="false" rot="0">
              <a:off x="0" y="0"/>
              <a:ext cx="13716000" cy="13716000"/>
            </a:xfrm>
            <a:custGeom>
              <a:avLst/>
              <a:gdLst/>
              <a:ahLst/>
              <a:cxnLst/>
              <a:rect r="r" b="b" t="t" l="l"/>
              <a:pathLst>
                <a:path h="13716000" w="13716000">
                  <a:moveTo>
                    <a:pt x="6858000" y="0"/>
                  </a:moveTo>
                  <a:cubicBezTo>
                    <a:pt x="3070431" y="0"/>
                    <a:pt x="0" y="3070431"/>
                    <a:pt x="0" y="6858000"/>
                  </a:cubicBezTo>
                  <a:cubicBezTo>
                    <a:pt x="0" y="10645569"/>
                    <a:pt x="3070431" y="13716000"/>
                    <a:pt x="6858000" y="13716000"/>
                  </a:cubicBezTo>
                  <a:cubicBezTo>
                    <a:pt x="10645569" y="13716000"/>
                    <a:pt x="13716000" y="10645569"/>
                    <a:pt x="13716000" y="6858000"/>
                  </a:cubicBezTo>
                  <a:cubicBezTo>
                    <a:pt x="13716000" y="3070431"/>
                    <a:pt x="10645569" y="0"/>
                    <a:pt x="6858000" y="0"/>
                  </a:cubicBezTo>
                  <a:close/>
                </a:path>
              </a:pathLst>
            </a:custGeom>
            <a:blipFill>
              <a:blip r:embed="rId2"/>
              <a:stretch>
                <a:fillRect l="-18490" t="0" r="-31321" b="0"/>
              </a:stretch>
            </a:blipFill>
          </p:spPr>
        </p:sp>
      </p:grpSp>
      <p:sp>
        <p:nvSpPr>
          <p:cNvPr name="TextBox 19" id="19"/>
          <p:cNvSpPr txBox="true"/>
          <p:nvPr/>
        </p:nvSpPr>
        <p:spPr>
          <a:xfrm rot="0">
            <a:off x="3495632" y="1814868"/>
            <a:ext cx="5610549" cy="1792656"/>
          </a:xfrm>
          <a:prstGeom prst="rect">
            <a:avLst/>
          </a:prstGeom>
        </p:spPr>
        <p:txBody>
          <a:bodyPr anchor="t" rtlCol="false" tIns="0" lIns="0" bIns="0" rIns="0">
            <a:spAutoFit/>
          </a:bodyPr>
          <a:lstStyle/>
          <a:p>
            <a:pPr algn="l">
              <a:lnSpc>
                <a:spcPts val="13516"/>
              </a:lnSpc>
            </a:pPr>
            <a:r>
              <a:rPr lang="en-US" sz="9654" b="true">
                <a:solidFill>
                  <a:srgbClr val="0345E4"/>
                </a:solidFill>
                <a:latin typeface="Helvetica World Bold"/>
                <a:ea typeface="Helvetica World Bold"/>
                <a:cs typeface="Helvetica World Bold"/>
                <a:sym typeface="Helvetica World Bold"/>
              </a:rPr>
              <a:t>NHÓM 14</a:t>
            </a:r>
          </a:p>
        </p:txBody>
      </p:sp>
      <p:sp>
        <p:nvSpPr>
          <p:cNvPr name="TextBox 20" id="20"/>
          <p:cNvSpPr txBox="true"/>
          <p:nvPr/>
        </p:nvSpPr>
        <p:spPr>
          <a:xfrm rot="0">
            <a:off x="1808072" y="4241767"/>
            <a:ext cx="8985668" cy="4204340"/>
          </a:xfrm>
          <a:prstGeom prst="rect">
            <a:avLst/>
          </a:prstGeom>
        </p:spPr>
        <p:txBody>
          <a:bodyPr anchor="t" rtlCol="false" tIns="0" lIns="0" bIns="0" rIns="0">
            <a:spAutoFit/>
          </a:bodyPr>
          <a:lstStyle/>
          <a:p>
            <a:pPr algn="ctr">
              <a:lnSpc>
                <a:spcPts val="8519"/>
              </a:lnSpc>
            </a:pPr>
            <a:r>
              <a:rPr lang="en-US" sz="3999">
                <a:solidFill>
                  <a:srgbClr val="000000"/>
                </a:solidFill>
                <a:latin typeface="Helvetica World"/>
                <a:ea typeface="Helvetica World"/>
                <a:cs typeface="Helvetica World"/>
                <a:sym typeface="Helvetica World"/>
              </a:rPr>
              <a:t>Nguyễn Thị Huyền Trang -  21520488</a:t>
            </a:r>
          </a:p>
          <a:p>
            <a:pPr algn="ctr">
              <a:lnSpc>
                <a:spcPts val="8519"/>
              </a:lnSpc>
            </a:pPr>
            <a:r>
              <a:rPr lang="en-US" sz="3999">
                <a:solidFill>
                  <a:srgbClr val="000000"/>
                </a:solidFill>
                <a:latin typeface="Helvetica World"/>
                <a:ea typeface="Helvetica World"/>
                <a:cs typeface="Helvetica World"/>
                <a:sym typeface="Helvetica World"/>
              </a:rPr>
              <a:t>Trần Tuyết Minh - 21521144</a:t>
            </a:r>
          </a:p>
          <a:p>
            <a:pPr algn="ctr">
              <a:lnSpc>
                <a:spcPts val="8519"/>
              </a:lnSpc>
            </a:pPr>
            <a:r>
              <a:rPr lang="en-US" sz="3999">
                <a:solidFill>
                  <a:srgbClr val="000000"/>
                </a:solidFill>
                <a:latin typeface="Helvetica World"/>
                <a:ea typeface="Helvetica World"/>
                <a:cs typeface="Helvetica World"/>
                <a:sym typeface="Helvetica World"/>
              </a:rPr>
              <a:t>Nguyễn Thị Mai Trinh - 21522718</a:t>
            </a:r>
          </a:p>
          <a:p>
            <a:pPr algn="ctr">
              <a:lnSpc>
                <a:spcPts val="8519"/>
              </a:lnSpc>
            </a:pPr>
            <a:r>
              <a:rPr lang="en-US" sz="3999">
                <a:solidFill>
                  <a:srgbClr val="000000"/>
                </a:solidFill>
                <a:latin typeface="Helvetica World"/>
                <a:ea typeface="Helvetica World"/>
                <a:cs typeface="Helvetica World"/>
                <a:sym typeface="Helvetica World"/>
              </a:rPr>
              <a:t>Lê Thị Như Ý - 21522818</a:t>
            </a:r>
          </a:p>
        </p:txBody>
      </p:sp>
      <p:sp>
        <p:nvSpPr>
          <p:cNvPr name="TextBox 21" id="21"/>
          <p:cNvSpPr txBox="true"/>
          <p:nvPr/>
        </p:nvSpPr>
        <p:spPr>
          <a:xfrm rot="0">
            <a:off x="17552365" y="8953500"/>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2</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7259300" y="0"/>
            <a:ext cx="1694792" cy="10287000"/>
            <a:chOff x="0" y="0"/>
            <a:chExt cx="446365" cy="2709333"/>
          </a:xfrm>
        </p:grpSpPr>
        <p:sp>
          <p:nvSpPr>
            <p:cNvPr name="Freeform 3" id="3"/>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4" id="4"/>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7109187"/>
            <a:ext cx="1028700" cy="3177813"/>
            <a:chOff x="0" y="0"/>
            <a:chExt cx="812800" cy="2510865"/>
          </a:xfrm>
        </p:grpSpPr>
        <p:sp>
          <p:nvSpPr>
            <p:cNvPr name="Freeform 6" id="6"/>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7" id="7"/>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0"/>
            <a:ext cx="1028700" cy="10287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2243209" y="1150658"/>
            <a:ext cx="9265559" cy="1266051"/>
          </a:xfrm>
          <a:prstGeom prst="rect">
            <a:avLst/>
          </a:prstGeom>
        </p:spPr>
        <p:txBody>
          <a:bodyPr anchor="t" rtlCol="false" tIns="0" lIns="0" bIns="0" rIns="0">
            <a:spAutoFit/>
          </a:bodyPr>
          <a:lstStyle/>
          <a:p>
            <a:pPr algn="l">
              <a:lnSpc>
                <a:spcPts val="9487"/>
              </a:lnSpc>
            </a:pPr>
            <a:r>
              <a:rPr lang="en-US" sz="6776" b="true">
                <a:solidFill>
                  <a:srgbClr val="000000"/>
                </a:solidFill>
                <a:latin typeface="Helvetica World Bold"/>
                <a:ea typeface="Helvetica World Bold"/>
                <a:cs typeface="Helvetica World Bold"/>
                <a:sym typeface="Helvetica World Bold"/>
              </a:rPr>
              <a:t>NỘI DUNG TRÌNH BÀY</a:t>
            </a:r>
          </a:p>
        </p:txBody>
      </p:sp>
      <p:grpSp>
        <p:nvGrpSpPr>
          <p:cNvPr name="Group 12" id="12"/>
          <p:cNvGrpSpPr/>
          <p:nvPr/>
        </p:nvGrpSpPr>
        <p:grpSpPr>
          <a:xfrm rot="0">
            <a:off x="2703812" y="3154077"/>
            <a:ext cx="969409" cy="96940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4" id="14"/>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01</a:t>
              </a:r>
            </a:p>
          </p:txBody>
        </p:sp>
      </p:grpSp>
      <p:grpSp>
        <p:nvGrpSpPr>
          <p:cNvPr name="Group 15" id="15"/>
          <p:cNvGrpSpPr/>
          <p:nvPr/>
        </p:nvGrpSpPr>
        <p:grpSpPr>
          <a:xfrm rot="0">
            <a:off x="2703812" y="4335023"/>
            <a:ext cx="969409" cy="96940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7" id="17"/>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02</a:t>
              </a:r>
            </a:p>
          </p:txBody>
        </p:sp>
      </p:grpSp>
      <p:grpSp>
        <p:nvGrpSpPr>
          <p:cNvPr name="Group 18" id="18"/>
          <p:cNvGrpSpPr/>
          <p:nvPr/>
        </p:nvGrpSpPr>
        <p:grpSpPr>
          <a:xfrm rot="0">
            <a:off x="2703812" y="5515969"/>
            <a:ext cx="969409" cy="96940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0" id="20"/>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03</a:t>
              </a:r>
            </a:p>
          </p:txBody>
        </p:sp>
      </p:grpSp>
      <p:grpSp>
        <p:nvGrpSpPr>
          <p:cNvPr name="Group 21" id="21"/>
          <p:cNvGrpSpPr/>
          <p:nvPr/>
        </p:nvGrpSpPr>
        <p:grpSpPr>
          <a:xfrm rot="0">
            <a:off x="2703812" y="6696915"/>
            <a:ext cx="969409" cy="96940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3" id="23"/>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04</a:t>
              </a:r>
            </a:p>
          </p:txBody>
        </p:sp>
      </p:grpSp>
      <p:grpSp>
        <p:nvGrpSpPr>
          <p:cNvPr name="Group 24" id="24"/>
          <p:cNvGrpSpPr/>
          <p:nvPr/>
        </p:nvGrpSpPr>
        <p:grpSpPr>
          <a:xfrm rot="0">
            <a:off x="2705507" y="7875873"/>
            <a:ext cx="969409" cy="969409"/>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6" id="26"/>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05</a:t>
              </a:r>
            </a:p>
          </p:txBody>
        </p:sp>
      </p:grpSp>
      <p:grpSp>
        <p:nvGrpSpPr>
          <p:cNvPr name="Group 27" id="27"/>
          <p:cNvGrpSpPr/>
          <p:nvPr/>
        </p:nvGrpSpPr>
        <p:grpSpPr>
          <a:xfrm rot="0">
            <a:off x="15011231" y="1028700"/>
            <a:ext cx="1652841" cy="1652841"/>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name="TextBox 29" id="29"/>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30" id="30"/>
          <p:cNvGrpSpPr/>
          <p:nvPr/>
        </p:nvGrpSpPr>
        <p:grpSpPr>
          <a:xfrm rot="0">
            <a:off x="14814124" y="816351"/>
            <a:ext cx="771724" cy="771724"/>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0">
            <a:off x="12379515" y="7385993"/>
            <a:ext cx="3744615" cy="374461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6" id="36"/>
          <p:cNvSpPr txBox="true"/>
          <p:nvPr/>
        </p:nvSpPr>
        <p:spPr>
          <a:xfrm rot="0">
            <a:off x="3892522" y="3375256"/>
            <a:ext cx="7351823" cy="606426"/>
          </a:xfrm>
          <a:prstGeom prst="rect">
            <a:avLst/>
          </a:prstGeom>
        </p:spPr>
        <p:txBody>
          <a:bodyPr anchor="t" rtlCol="false" tIns="0" lIns="0" bIns="0" rIns="0">
            <a:spAutoFit/>
          </a:bodyPr>
          <a:lstStyle/>
          <a:p>
            <a:pPr algn="l">
              <a:lnSpc>
                <a:spcPts val="4899"/>
              </a:lnSpc>
            </a:pPr>
            <a:r>
              <a:rPr lang="en-US" sz="3499">
                <a:solidFill>
                  <a:srgbClr val="000000"/>
                </a:solidFill>
                <a:latin typeface="Helvetica World"/>
                <a:ea typeface="Helvetica World"/>
                <a:cs typeface="Helvetica World"/>
                <a:sym typeface="Helvetica World"/>
              </a:rPr>
              <a:t>Tổng quan bài toán</a:t>
            </a:r>
          </a:p>
        </p:txBody>
      </p:sp>
      <p:sp>
        <p:nvSpPr>
          <p:cNvPr name="TextBox 37" id="37"/>
          <p:cNvSpPr txBox="true"/>
          <p:nvPr/>
        </p:nvSpPr>
        <p:spPr>
          <a:xfrm rot="0">
            <a:off x="3892522" y="4556202"/>
            <a:ext cx="7351823" cy="606426"/>
          </a:xfrm>
          <a:prstGeom prst="rect">
            <a:avLst/>
          </a:prstGeom>
        </p:spPr>
        <p:txBody>
          <a:bodyPr anchor="t" rtlCol="false" tIns="0" lIns="0" bIns="0" rIns="0">
            <a:spAutoFit/>
          </a:bodyPr>
          <a:lstStyle/>
          <a:p>
            <a:pPr algn="l">
              <a:lnSpc>
                <a:spcPts val="4899"/>
              </a:lnSpc>
            </a:pPr>
            <a:r>
              <a:rPr lang="en-US" sz="3499">
                <a:solidFill>
                  <a:srgbClr val="000000"/>
                </a:solidFill>
                <a:latin typeface="Helvetica World"/>
                <a:ea typeface="Helvetica World"/>
                <a:cs typeface="Helvetica World"/>
                <a:sym typeface="Helvetica World"/>
              </a:rPr>
              <a:t>Tiền xử lý dữ liệu</a:t>
            </a:r>
          </a:p>
        </p:txBody>
      </p:sp>
      <p:sp>
        <p:nvSpPr>
          <p:cNvPr name="TextBox 38" id="38"/>
          <p:cNvSpPr txBox="true"/>
          <p:nvPr/>
        </p:nvSpPr>
        <p:spPr>
          <a:xfrm rot="0">
            <a:off x="3892522" y="5737148"/>
            <a:ext cx="7351823" cy="606426"/>
          </a:xfrm>
          <a:prstGeom prst="rect">
            <a:avLst/>
          </a:prstGeom>
        </p:spPr>
        <p:txBody>
          <a:bodyPr anchor="t" rtlCol="false" tIns="0" lIns="0" bIns="0" rIns="0">
            <a:spAutoFit/>
          </a:bodyPr>
          <a:lstStyle/>
          <a:p>
            <a:pPr algn="l">
              <a:lnSpc>
                <a:spcPts val="4899"/>
              </a:lnSpc>
            </a:pPr>
            <a:r>
              <a:rPr lang="en-US" sz="3499">
                <a:solidFill>
                  <a:srgbClr val="000000"/>
                </a:solidFill>
                <a:latin typeface="Helvetica World"/>
                <a:ea typeface="Helvetica World"/>
                <a:cs typeface="Helvetica World"/>
                <a:sym typeface="Helvetica World"/>
              </a:rPr>
              <a:t>Huấn luyện mô hình</a:t>
            </a:r>
          </a:p>
        </p:txBody>
      </p:sp>
      <p:sp>
        <p:nvSpPr>
          <p:cNvPr name="TextBox 39" id="39"/>
          <p:cNvSpPr txBox="true"/>
          <p:nvPr/>
        </p:nvSpPr>
        <p:spPr>
          <a:xfrm rot="0">
            <a:off x="3892522" y="6918094"/>
            <a:ext cx="7351823" cy="606426"/>
          </a:xfrm>
          <a:prstGeom prst="rect">
            <a:avLst/>
          </a:prstGeom>
        </p:spPr>
        <p:txBody>
          <a:bodyPr anchor="t" rtlCol="false" tIns="0" lIns="0" bIns="0" rIns="0">
            <a:spAutoFit/>
          </a:bodyPr>
          <a:lstStyle/>
          <a:p>
            <a:pPr algn="l">
              <a:lnSpc>
                <a:spcPts val="4899"/>
              </a:lnSpc>
            </a:pPr>
            <a:r>
              <a:rPr lang="en-US" sz="3499">
                <a:solidFill>
                  <a:srgbClr val="000000"/>
                </a:solidFill>
                <a:latin typeface="Helvetica World"/>
                <a:ea typeface="Helvetica World"/>
                <a:cs typeface="Helvetica World"/>
                <a:sym typeface="Helvetica World"/>
              </a:rPr>
              <a:t>Metric Hack</a:t>
            </a:r>
          </a:p>
        </p:txBody>
      </p:sp>
      <p:sp>
        <p:nvSpPr>
          <p:cNvPr name="TextBox 40" id="40"/>
          <p:cNvSpPr txBox="true"/>
          <p:nvPr/>
        </p:nvSpPr>
        <p:spPr>
          <a:xfrm rot="0">
            <a:off x="3894217" y="8097052"/>
            <a:ext cx="7351823" cy="606426"/>
          </a:xfrm>
          <a:prstGeom prst="rect">
            <a:avLst/>
          </a:prstGeom>
        </p:spPr>
        <p:txBody>
          <a:bodyPr anchor="t" rtlCol="false" tIns="0" lIns="0" bIns="0" rIns="0">
            <a:spAutoFit/>
          </a:bodyPr>
          <a:lstStyle/>
          <a:p>
            <a:pPr algn="l">
              <a:lnSpc>
                <a:spcPts val="4899"/>
              </a:lnSpc>
            </a:pPr>
            <a:r>
              <a:rPr lang="en-US" sz="3499">
                <a:solidFill>
                  <a:srgbClr val="000000"/>
                </a:solidFill>
                <a:latin typeface="Helvetica World"/>
                <a:ea typeface="Helvetica World"/>
                <a:cs typeface="Helvetica World"/>
                <a:sym typeface="Helvetica World"/>
              </a:rPr>
              <a:t>Kết luận</a:t>
            </a:r>
          </a:p>
        </p:txBody>
      </p:sp>
      <p:sp>
        <p:nvSpPr>
          <p:cNvPr name="TextBox 41" id="41"/>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3</a:t>
            </a:r>
          </a:p>
        </p:txBody>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7368147" cy="1543194"/>
            <a:chOff x="0" y="0"/>
            <a:chExt cx="4574327" cy="406438"/>
          </a:xfrm>
        </p:grpSpPr>
        <p:sp>
          <p:nvSpPr>
            <p:cNvPr name="Freeform 3" id="3"/>
            <p:cNvSpPr/>
            <p:nvPr/>
          </p:nvSpPr>
          <p:spPr>
            <a:xfrm flipH="false" flipV="false" rot="0">
              <a:off x="0" y="0"/>
              <a:ext cx="4574327" cy="406438"/>
            </a:xfrm>
            <a:custGeom>
              <a:avLst/>
              <a:gdLst/>
              <a:ahLst/>
              <a:cxnLst/>
              <a:rect r="r" b="b" t="t" l="l"/>
              <a:pathLst>
                <a:path h="406438" w="4574327">
                  <a:moveTo>
                    <a:pt x="0" y="0"/>
                  </a:moveTo>
                  <a:lnTo>
                    <a:pt x="4574327" y="0"/>
                  </a:lnTo>
                  <a:lnTo>
                    <a:pt x="4574327" y="406438"/>
                  </a:lnTo>
                  <a:lnTo>
                    <a:pt x="0" y="406438"/>
                  </a:lnTo>
                  <a:close/>
                </a:path>
              </a:pathLst>
            </a:custGeom>
            <a:solidFill>
              <a:srgbClr val="0345E4"/>
            </a:solidFill>
          </p:spPr>
        </p:sp>
        <p:sp>
          <p:nvSpPr>
            <p:cNvPr name="TextBox 4" id="4"/>
            <p:cNvSpPr txBox="true"/>
            <p:nvPr/>
          </p:nvSpPr>
          <p:spPr>
            <a:xfrm>
              <a:off x="0" y="-38100"/>
              <a:ext cx="4574327" cy="44453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415693" y="6542385"/>
            <a:ext cx="3744615" cy="37446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919853" y="296934"/>
            <a:ext cx="10769833" cy="923926"/>
          </a:xfrm>
          <a:prstGeom prst="rect">
            <a:avLst/>
          </a:prstGeom>
        </p:spPr>
        <p:txBody>
          <a:bodyPr anchor="t" rtlCol="false" tIns="0" lIns="0" bIns="0" rIns="0">
            <a:spAutoFit/>
          </a:bodyPr>
          <a:lstStyle/>
          <a:p>
            <a:pPr algn="l">
              <a:lnSpc>
                <a:spcPts val="6999"/>
              </a:lnSpc>
            </a:pPr>
            <a:r>
              <a:rPr lang="en-US" b="true" sz="4999" spc="99">
                <a:solidFill>
                  <a:srgbClr val="FFFFFF"/>
                </a:solidFill>
                <a:latin typeface="Helvetica World Bold"/>
                <a:ea typeface="Helvetica World Bold"/>
                <a:cs typeface="Helvetica World Bold"/>
                <a:sym typeface="Helvetica World Bold"/>
              </a:rPr>
              <a:t>TỔNG QUAN BÀI TOÁN</a:t>
            </a:r>
          </a:p>
        </p:txBody>
      </p:sp>
      <p:sp>
        <p:nvSpPr>
          <p:cNvPr name="TextBox 9" id="9"/>
          <p:cNvSpPr txBox="true"/>
          <p:nvPr/>
        </p:nvSpPr>
        <p:spPr>
          <a:xfrm rot="0">
            <a:off x="1088330" y="2666251"/>
            <a:ext cx="13296853" cy="845427"/>
          </a:xfrm>
          <a:prstGeom prst="rect">
            <a:avLst/>
          </a:prstGeom>
        </p:spPr>
        <p:txBody>
          <a:bodyPr anchor="t" rtlCol="false" tIns="0" lIns="0" bIns="0" rIns="0">
            <a:spAutoFit/>
          </a:bodyPr>
          <a:lstStyle/>
          <a:p>
            <a:pPr algn="just" marL="0" indent="0" lvl="0">
              <a:lnSpc>
                <a:spcPts val="7055"/>
              </a:lnSpc>
            </a:pPr>
            <a:r>
              <a:rPr lang="en-US" b="true" sz="4551">
                <a:solidFill>
                  <a:srgbClr val="000000"/>
                </a:solidFill>
                <a:latin typeface="Open Sans Bold"/>
                <a:ea typeface="Open Sans Bold"/>
                <a:cs typeface="Open Sans Bold"/>
                <a:sym typeface="Open Sans Bold"/>
              </a:rPr>
              <a:t>Dự đoán khả năng vỡ nợ của các khoản vay</a:t>
            </a:r>
          </a:p>
        </p:txBody>
      </p:sp>
      <p:grpSp>
        <p:nvGrpSpPr>
          <p:cNvPr name="Group 10" id="10"/>
          <p:cNvGrpSpPr/>
          <p:nvPr/>
        </p:nvGrpSpPr>
        <p:grpSpPr>
          <a:xfrm rot="0">
            <a:off x="743135" y="4211360"/>
            <a:ext cx="17030515" cy="2802549"/>
            <a:chOff x="0" y="0"/>
            <a:chExt cx="3710580" cy="610615"/>
          </a:xfrm>
        </p:grpSpPr>
        <p:sp>
          <p:nvSpPr>
            <p:cNvPr name="Freeform 11" id="11"/>
            <p:cNvSpPr/>
            <p:nvPr/>
          </p:nvSpPr>
          <p:spPr>
            <a:xfrm flipH="false" flipV="false" rot="0">
              <a:off x="0" y="0"/>
              <a:ext cx="3710580" cy="610615"/>
            </a:xfrm>
            <a:custGeom>
              <a:avLst/>
              <a:gdLst/>
              <a:ahLst/>
              <a:cxnLst/>
              <a:rect r="r" b="b" t="t" l="l"/>
              <a:pathLst>
                <a:path h="610615" w="3710580">
                  <a:moveTo>
                    <a:pt x="23184" y="0"/>
                  </a:moveTo>
                  <a:lnTo>
                    <a:pt x="3687395" y="0"/>
                  </a:lnTo>
                  <a:cubicBezTo>
                    <a:pt x="3700200" y="0"/>
                    <a:pt x="3710580" y="10380"/>
                    <a:pt x="3710580" y="23184"/>
                  </a:cubicBezTo>
                  <a:lnTo>
                    <a:pt x="3710580" y="587431"/>
                  </a:lnTo>
                  <a:cubicBezTo>
                    <a:pt x="3710580" y="600235"/>
                    <a:pt x="3700200" y="610615"/>
                    <a:pt x="3687395" y="610615"/>
                  </a:cubicBezTo>
                  <a:lnTo>
                    <a:pt x="23184" y="610615"/>
                  </a:lnTo>
                  <a:cubicBezTo>
                    <a:pt x="10380" y="610615"/>
                    <a:pt x="0" y="600235"/>
                    <a:pt x="0" y="587431"/>
                  </a:cubicBezTo>
                  <a:lnTo>
                    <a:pt x="0" y="23184"/>
                  </a:lnTo>
                  <a:cubicBezTo>
                    <a:pt x="0" y="10380"/>
                    <a:pt x="10380" y="0"/>
                    <a:pt x="23184" y="0"/>
                  </a:cubicBezTo>
                  <a:close/>
                </a:path>
              </a:pathLst>
            </a:custGeom>
            <a:solidFill>
              <a:srgbClr val="E8ECEC"/>
            </a:solidFill>
          </p:spPr>
        </p:sp>
        <p:sp>
          <p:nvSpPr>
            <p:cNvPr name="TextBox 12" id="12"/>
            <p:cNvSpPr txBox="true"/>
            <p:nvPr/>
          </p:nvSpPr>
          <p:spPr>
            <a:xfrm>
              <a:off x="0" y="-38100"/>
              <a:ext cx="3710580" cy="64871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088330" y="4240938"/>
            <a:ext cx="16685320" cy="2515066"/>
          </a:xfrm>
          <a:prstGeom prst="rect">
            <a:avLst/>
          </a:prstGeom>
        </p:spPr>
        <p:txBody>
          <a:bodyPr anchor="t" rtlCol="false" tIns="0" lIns="0" bIns="0" rIns="0">
            <a:spAutoFit/>
          </a:bodyPr>
          <a:lstStyle/>
          <a:p>
            <a:pPr algn="l">
              <a:lnSpc>
                <a:spcPts val="6745"/>
              </a:lnSpc>
            </a:pPr>
            <a:r>
              <a:rPr lang="en-US" sz="4351" b="true">
                <a:solidFill>
                  <a:srgbClr val="000000"/>
                </a:solidFill>
                <a:latin typeface="Open Sans Bold"/>
                <a:ea typeface="Open Sans Bold"/>
                <a:cs typeface="Open Sans Bold"/>
                <a:sym typeface="Open Sans Bold"/>
              </a:rPr>
              <a:t>Input: </a:t>
            </a:r>
            <a:r>
              <a:rPr lang="en-US" sz="4351">
                <a:solidFill>
                  <a:srgbClr val="000000"/>
                </a:solidFill>
                <a:latin typeface="Open Sans"/>
                <a:ea typeface="Open Sans"/>
                <a:cs typeface="Open Sans"/>
                <a:sym typeface="Open Sans"/>
              </a:rPr>
              <a:t>dữ liệu liên quan đến khoản vay </a:t>
            </a:r>
          </a:p>
          <a:p>
            <a:pPr algn="l" marL="0" indent="0" lvl="0">
              <a:lnSpc>
                <a:spcPts val="6745"/>
              </a:lnSpc>
            </a:pPr>
            <a:r>
              <a:rPr lang="en-US" sz="4351">
                <a:solidFill>
                  <a:srgbClr val="000000"/>
                </a:solidFill>
                <a:latin typeface="Open Sans"/>
                <a:ea typeface="Open Sans"/>
                <a:cs typeface="Open Sans"/>
                <a:sym typeface="Open Sans"/>
              </a:rPr>
              <a:t>Ví dụ: 'case_id', 'WEEK_NUM', 'target', 'month_decision', 'weekday_decision', 'credamount_770A', 'applicationcnt_361L',...</a:t>
            </a:r>
          </a:p>
        </p:txBody>
      </p:sp>
      <p:grpSp>
        <p:nvGrpSpPr>
          <p:cNvPr name="Group 14" id="14"/>
          <p:cNvGrpSpPr/>
          <p:nvPr/>
        </p:nvGrpSpPr>
        <p:grpSpPr>
          <a:xfrm rot="0">
            <a:off x="743135" y="7698232"/>
            <a:ext cx="11379614" cy="861441"/>
            <a:chOff x="0" y="0"/>
            <a:chExt cx="2479371" cy="187689"/>
          </a:xfrm>
        </p:grpSpPr>
        <p:sp>
          <p:nvSpPr>
            <p:cNvPr name="Freeform 15" id="15"/>
            <p:cNvSpPr/>
            <p:nvPr/>
          </p:nvSpPr>
          <p:spPr>
            <a:xfrm flipH="false" flipV="false" rot="0">
              <a:off x="0" y="0"/>
              <a:ext cx="2479371" cy="187689"/>
            </a:xfrm>
            <a:custGeom>
              <a:avLst/>
              <a:gdLst/>
              <a:ahLst/>
              <a:cxnLst/>
              <a:rect r="r" b="b" t="t" l="l"/>
              <a:pathLst>
                <a:path h="187689" w="2479371">
                  <a:moveTo>
                    <a:pt x="34697" y="0"/>
                  </a:moveTo>
                  <a:lnTo>
                    <a:pt x="2444674" y="0"/>
                  </a:lnTo>
                  <a:cubicBezTo>
                    <a:pt x="2453876" y="0"/>
                    <a:pt x="2462702" y="3656"/>
                    <a:pt x="2469209" y="10163"/>
                  </a:cubicBezTo>
                  <a:cubicBezTo>
                    <a:pt x="2475716" y="16669"/>
                    <a:pt x="2479371" y="25495"/>
                    <a:pt x="2479371" y="34697"/>
                  </a:cubicBezTo>
                  <a:lnTo>
                    <a:pt x="2479371" y="152992"/>
                  </a:lnTo>
                  <a:cubicBezTo>
                    <a:pt x="2479371" y="172155"/>
                    <a:pt x="2463837" y="187689"/>
                    <a:pt x="2444674" y="187689"/>
                  </a:cubicBezTo>
                  <a:lnTo>
                    <a:pt x="34697" y="187689"/>
                  </a:lnTo>
                  <a:cubicBezTo>
                    <a:pt x="25495" y="187689"/>
                    <a:pt x="16669" y="184034"/>
                    <a:pt x="10163" y="177527"/>
                  </a:cubicBezTo>
                  <a:cubicBezTo>
                    <a:pt x="3656" y="171020"/>
                    <a:pt x="0" y="162195"/>
                    <a:pt x="0" y="152992"/>
                  </a:cubicBezTo>
                  <a:lnTo>
                    <a:pt x="0" y="34697"/>
                  </a:lnTo>
                  <a:cubicBezTo>
                    <a:pt x="0" y="25495"/>
                    <a:pt x="3656" y="16669"/>
                    <a:pt x="10163" y="10163"/>
                  </a:cubicBezTo>
                  <a:cubicBezTo>
                    <a:pt x="16669" y="3656"/>
                    <a:pt x="25495" y="0"/>
                    <a:pt x="34697" y="0"/>
                  </a:cubicBezTo>
                  <a:close/>
                </a:path>
              </a:pathLst>
            </a:custGeom>
            <a:solidFill>
              <a:srgbClr val="E8ECEC"/>
            </a:solidFill>
          </p:spPr>
        </p:sp>
        <p:sp>
          <p:nvSpPr>
            <p:cNvPr name="TextBox 16" id="16"/>
            <p:cNvSpPr txBox="true"/>
            <p:nvPr/>
          </p:nvSpPr>
          <p:spPr>
            <a:xfrm>
              <a:off x="0" y="-38100"/>
              <a:ext cx="2479371" cy="225789"/>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088330" y="7621430"/>
            <a:ext cx="11034420" cy="811000"/>
          </a:xfrm>
          <a:prstGeom prst="rect">
            <a:avLst/>
          </a:prstGeom>
        </p:spPr>
        <p:txBody>
          <a:bodyPr anchor="t" rtlCol="false" tIns="0" lIns="0" bIns="0" rIns="0">
            <a:spAutoFit/>
          </a:bodyPr>
          <a:lstStyle/>
          <a:p>
            <a:pPr algn="l" marL="0" indent="0" lvl="0">
              <a:lnSpc>
                <a:spcPts val="6745"/>
              </a:lnSpc>
            </a:pPr>
            <a:r>
              <a:rPr lang="en-US" b="true" sz="4351">
                <a:solidFill>
                  <a:srgbClr val="000000"/>
                </a:solidFill>
                <a:latin typeface="Open Sans Bold"/>
                <a:ea typeface="Open Sans Bold"/>
                <a:cs typeface="Open Sans Bold"/>
                <a:sym typeface="Open Sans Bold"/>
              </a:rPr>
              <a:t>Output:</a:t>
            </a:r>
            <a:r>
              <a:rPr lang="en-US" sz="4351">
                <a:solidFill>
                  <a:srgbClr val="000000"/>
                </a:solidFill>
                <a:latin typeface="Open Sans"/>
                <a:ea typeface="Open Sans"/>
                <a:cs typeface="Open Sans"/>
                <a:sym typeface="Open Sans"/>
              </a:rPr>
              <a:t> Tỉ lệ vỡ nợ  (có giá trị trong [0,1])</a:t>
            </a:r>
            <a:r>
              <a:rPr lang="en-US" sz="4351">
                <a:solidFill>
                  <a:srgbClr val="000000"/>
                </a:solidFill>
                <a:latin typeface="Open Sans"/>
                <a:ea typeface="Open Sans"/>
                <a:cs typeface="Open Sans"/>
                <a:sym typeface="Open Sans"/>
              </a:rPr>
              <a:t> </a:t>
            </a:r>
          </a:p>
        </p:txBody>
      </p:sp>
      <p:sp>
        <p:nvSpPr>
          <p:cNvPr name="TextBox 18" id="18"/>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4</a:t>
            </a:r>
          </a:p>
        </p:txBody>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368147" cy="1543194"/>
            <a:chOff x="0" y="0"/>
            <a:chExt cx="4574327" cy="406438"/>
          </a:xfrm>
        </p:grpSpPr>
        <p:sp>
          <p:nvSpPr>
            <p:cNvPr name="Freeform 3" id="3"/>
            <p:cNvSpPr/>
            <p:nvPr/>
          </p:nvSpPr>
          <p:spPr>
            <a:xfrm flipH="false" flipV="false" rot="0">
              <a:off x="0" y="0"/>
              <a:ext cx="4574327" cy="406438"/>
            </a:xfrm>
            <a:custGeom>
              <a:avLst/>
              <a:gdLst/>
              <a:ahLst/>
              <a:cxnLst/>
              <a:rect r="r" b="b" t="t" l="l"/>
              <a:pathLst>
                <a:path h="406438" w="4574327">
                  <a:moveTo>
                    <a:pt x="0" y="0"/>
                  </a:moveTo>
                  <a:lnTo>
                    <a:pt x="4574327" y="0"/>
                  </a:lnTo>
                  <a:lnTo>
                    <a:pt x="4574327" y="406438"/>
                  </a:lnTo>
                  <a:lnTo>
                    <a:pt x="0" y="406438"/>
                  </a:lnTo>
                  <a:close/>
                </a:path>
              </a:pathLst>
            </a:custGeom>
            <a:solidFill>
              <a:srgbClr val="0345E4"/>
            </a:solidFill>
          </p:spPr>
        </p:sp>
        <p:sp>
          <p:nvSpPr>
            <p:cNvPr name="TextBox 4" id="4"/>
            <p:cNvSpPr txBox="true"/>
            <p:nvPr/>
          </p:nvSpPr>
          <p:spPr>
            <a:xfrm>
              <a:off x="0" y="-38100"/>
              <a:ext cx="4574327" cy="44453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415693" y="6542385"/>
            <a:ext cx="3744615" cy="37446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617220" y="1543194"/>
            <a:ext cx="7579205" cy="5186141"/>
          </a:xfrm>
          <a:custGeom>
            <a:avLst/>
            <a:gdLst/>
            <a:ahLst/>
            <a:cxnLst/>
            <a:rect r="r" b="b" t="t" l="l"/>
            <a:pathLst>
              <a:path h="5186141" w="7579205">
                <a:moveTo>
                  <a:pt x="0" y="0"/>
                </a:moveTo>
                <a:lnTo>
                  <a:pt x="7579205" y="0"/>
                </a:lnTo>
                <a:lnTo>
                  <a:pt x="7579205" y="5186141"/>
                </a:lnTo>
                <a:lnTo>
                  <a:pt x="0" y="5186141"/>
                </a:lnTo>
                <a:lnTo>
                  <a:pt x="0" y="0"/>
                </a:lnTo>
                <a:close/>
              </a:path>
            </a:pathLst>
          </a:custGeom>
          <a:blipFill>
            <a:blip r:embed="rId2"/>
            <a:stretch>
              <a:fillRect l="0" t="0" r="0" b="0"/>
            </a:stretch>
          </a:blipFill>
        </p:spPr>
      </p:sp>
      <p:sp>
        <p:nvSpPr>
          <p:cNvPr name="Freeform 9" id="9"/>
          <p:cNvSpPr/>
          <p:nvPr/>
        </p:nvSpPr>
        <p:spPr>
          <a:xfrm flipH="false" flipV="false" rot="0">
            <a:off x="8196425" y="3692519"/>
            <a:ext cx="10091575" cy="6073633"/>
          </a:xfrm>
          <a:custGeom>
            <a:avLst/>
            <a:gdLst/>
            <a:ahLst/>
            <a:cxnLst/>
            <a:rect r="r" b="b" t="t" l="l"/>
            <a:pathLst>
              <a:path h="6073633" w="10091575">
                <a:moveTo>
                  <a:pt x="0" y="0"/>
                </a:moveTo>
                <a:lnTo>
                  <a:pt x="10091575" y="0"/>
                </a:lnTo>
                <a:lnTo>
                  <a:pt x="10091575" y="6073633"/>
                </a:lnTo>
                <a:lnTo>
                  <a:pt x="0" y="6073633"/>
                </a:lnTo>
                <a:lnTo>
                  <a:pt x="0" y="0"/>
                </a:lnTo>
                <a:close/>
              </a:path>
            </a:pathLst>
          </a:custGeom>
          <a:blipFill>
            <a:blip r:embed="rId3"/>
            <a:stretch>
              <a:fillRect l="0" t="0" r="0" b="0"/>
            </a:stretch>
          </a:blipFill>
        </p:spPr>
      </p:sp>
      <p:sp>
        <p:nvSpPr>
          <p:cNvPr name="TextBox 10" id="10"/>
          <p:cNvSpPr txBox="true"/>
          <p:nvPr/>
        </p:nvSpPr>
        <p:spPr>
          <a:xfrm rot="0">
            <a:off x="919853" y="268359"/>
            <a:ext cx="10769833" cy="1115915"/>
          </a:xfrm>
          <a:prstGeom prst="rect">
            <a:avLst/>
          </a:prstGeom>
        </p:spPr>
        <p:txBody>
          <a:bodyPr anchor="t" rtlCol="false" tIns="0" lIns="0" bIns="0" rIns="0">
            <a:spAutoFit/>
          </a:bodyPr>
          <a:lstStyle/>
          <a:p>
            <a:pPr algn="l">
              <a:lnSpc>
                <a:spcPts val="8399"/>
              </a:lnSpc>
            </a:pPr>
            <a:r>
              <a:rPr lang="en-US" b="true" sz="5999" spc="119">
                <a:solidFill>
                  <a:srgbClr val="FFFFFF"/>
                </a:solidFill>
                <a:latin typeface="Helvetica World Bold"/>
                <a:ea typeface="Helvetica World Bold"/>
                <a:cs typeface="Helvetica World Bold"/>
                <a:sym typeface="Helvetica World Bold"/>
              </a:rPr>
              <a:t>EDA</a:t>
            </a:r>
          </a:p>
        </p:txBody>
      </p:sp>
      <p:sp>
        <p:nvSpPr>
          <p:cNvPr name="TextBox 11" id="11"/>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4</a:t>
            </a:r>
          </a:p>
        </p:txBody>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7368147" cy="1543194"/>
            <a:chOff x="0" y="0"/>
            <a:chExt cx="4574327" cy="406438"/>
          </a:xfrm>
        </p:grpSpPr>
        <p:sp>
          <p:nvSpPr>
            <p:cNvPr name="Freeform 3" id="3"/>
            <p:cNvSpPr/>
            <p:nvPr/>
          </p:nvSpPr>
          <p:spPr>
            <a:xfrm flipH="false" flipV="false" rot="0">
              <a:off x="0" y="0"/>
              <a:ext cx="4574327" cy="406438"/>
            </a:xfrm>
            <a:custGeom>
              <a:avLst/>
              <a:gdLst/>
              <a:ahLst/>
              <a:cxnLst/>
              <a:rect r="r" b="b" t="t" l="l"/>
              <a:pathLst>
                <a:path h="406438" w="4574327">
                  <a:moveTo>
                    <a:pt x="0" y="0"/>
                  </a:moveTo>
                  <a:lnTo>
                    <a:pt x="4574327" y="0"/>
                  </a:lnTo>
                  <a:lnTo>
                    <a:pt x="4574327" y="406438"/>
                  </a:lnTo>
                  <a:lnTo>
                    <a:pt x="0" y="406438"/>
                  </a:lnTo>
                  <a:close/>
                </a:path>
              </a:pathLst>
            </a:custGeom>
            <a:solidFill>
              <a:srgbClr val="0345E4"/>
            </a:solidFill>
          </p:spPr>
        </p:sp>
        <p:sp>
          <p:nvSpPr>
            <p:cNvPr name="TextBox 4" id="4"/>
            <p:cNvSpPr txBox="true"/>
            <p:nvPr/>
          </p:nvSpPr>
          <p:spPr>
            <a:xfrm>
              <a:off x="0" y="-38100"/>
              <a:ext cx="4574327" cy="444538"/>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919853" y="296934"/>
            <a:ext cx="10769833" cy="925464"/>
          </a:xfrm>
          <a:prstGeom prst="rect">
            <a:avLst/>
          </a:prstGeom>
        </p:spPr>
        <p:txBody>
          <a:bodyPr anchor="t" rtlCol="false" tIns="0" lIns="0" bIns="0" rIns="0">
            <a:spAutoFit/>
          </a:bodyPr>
          <a:lstStyle/>
          <a:p>
            <a:pPr algn="l">
              <a:lnSpc>
                <a:spcPts val="6999"/>
              </a:lnSpc>
            </a:pPr>
            <a:r>
              <a:rPr lang="en-US" b="true" sz="4999" spc="99">
                <a:solidFill>
                  <a:srgbClr val="FFFFFF"/>
                </a:solidFill>
                <a:latin typeface="Helvetica World Bold"/>
                <a:ea typeface="Helvetica World Bold"/>
                <a:cs typeface="Helvetica World Bold"/>
                <a:sym typeface="Helvetica World Bold"/>
              </a:rPr>
              <a:t>TIỀN XỬ LÝ DỮ LIỆU</a:t>
            </a:r>
          </a:p>
        </p:txBody>
      </p:sp>
      <p:sp>
        <p:nvSpPr>
          <p:cNvPr name="TextBox 6" id="6"/>
          <p:cNvSpPr txBox="true"/>
          <p:nvPr/>
        </p:nvSpPr>
        <p:spPr>
          <a:xfrm rot="0">
            <a:off x="919853" y="1579437"/>
            <a:ext cx="14998635" cy="659131"/>
          </a:xfrm>
          <a:prstGeom prst="rect">
            <a:avLst/>
          </a:prstGeom>
        </p:spPr>
        <p:txBody>
          <a:bodyPr anchor="t" rtlCol="false" tIns="0" lIns="0" bIns="0" rIns="0">
            <a:spAutoFit/>
          </a:bodyPr>
          <a:lstStyle/>
          <a:p>
            <a:pPr algn="just" marL="777234" indent="-388617" lvl="1">
              <a:lnSpc>
                <a:spcPts val="5579"/>
              </a:lnSpc>
              <a:buFont typeface="Arial"/>
              <a:buChar char="•"/>
            </a:pPr>
            <a:r>
              <a:rPr lang="en-US" sz="3599">
                <a:solidFill>
                  <a:srgbClr val="000000"/>
                </a:solidFill>
                <a:latin typeface="Open Sans"/>
                <a:ea typeface="Open Sans"/>
                <a:cs typeface="Open Sans"/>
                <a:sym typeface="Open Sans"/>
              </a:rPr>
              <a:t>Lựa chọn dữ liệu có depth = 0, 1 và một phần dữ liệu depth = 2</a:t>
            </a:r>
          </a:p>
        </p:txBody>
      </p:sp>
      <p:grpSp>
        <p:nvGrpSpPr>
          <p:cNvPr name="Group 7" id="7"/>
          <p:cNvGrpSpPr/>
          <p:nvPr/>
        </p:nvGrpSpPr>
        <p:grpSpPr>
          <a:xfrm rot="0">
            <a:off x="16460237" y="7452668"/>
            <a:ext cx="3744615" cy="374461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33189" y="2705269"/>
            <a:ext cx="4144845" cy="3354450"/>
            <a:chOff x="0" y="0"/>
            <a:chExt cx="1091647" cy="883477"/>
          </a:xfrm>
        </p:grpSpPr>
        <p:sp>
          <p:nvSpPr>
            <p:cNvPr name="Freeform 11" id="11"/>
            <p:cNvSpPr/>
            <p:nvPr/>
          </p:nvSpPr>
          <p:spPr>
            <a:xfrm flipH="false" flipV="false" rot="0">
              <a:off x="0" y="0"/>
              <a:ext cx="1091647" cy="883477"/>
            </a:xfrm>
            <a:custGeom>
              <a:avLst/>
              <a:gdLst/>
              <a:ahLst/>
              <a:cxnLst/>
              <a:rect r="r" b="b" t="t" l="l"/>
              <a:pathLst>
                <a:path h="883477" w="1091647">
                  <a:moveTo>
                    <a:pt x="95260" y="0"/>
                  </a:moveTo>
                  <a:lnTo>
                    <a:pt x="996387" y="0"/>
                  </a:lnTo>
                  <a:cubicBezTo>
                    <a:pt x="1021651" y="0"/>
                    <a:pt x="1045881" y="10036"/>
                    <a:pt x="1063746" y="27901"/>
                  </a:cubicBezTo>
                  <a:cubicBezTo>
                    <a:pt x="1081610" y="45766"/>
                    <a:pt x="1091647" y="69995"/>
                    <a:pt x="1091647" y="95260"/>
                  </a:cubicBezTo>
                  <a:lnTo>
                    <a:pt x="1091647" y="788217"/>
                  </a:lnTo>
                  <a:cubicBezTo>
                    <a:pt x="1091647" y="840827"/>
                    <a:pt x="1048997" y="883477"/>
                    <a:pt x="996387" y="883477"/>
                  </a:cubicBezTo>
                  <a:lnTo>
                    <a:pt x="95260" y="883477"/>
                  </a:lnTo>
                  <a:cubicBezTo>
                    <a:pt x="69995" y="883477"/>
                    <a:pt x="45766" y="873440"/>
                    <a:pt x="27901" y="855576"/>
                  </a:cubicBezTo>
                  <a:cubicBezTo>
                    <a:pt x="10036" y="837711"/>
                    <a:pt x="0" y="813481"/>
                    <a:pt x="0" y="788217"/>
                  </a:cubicBezTo>
                  <a:lnTo>
                    <a:pt x="0" y="95260"/>
                  </a:lnTo>
                  <a:cubicBezTo>
                    <a:pt x="0" y="69995"/>
                    <a:pt x="10036" y="45766"/>
                    <a:pt x="27901" y="27901"/>
                  </a:cubicBezTo>
                  <a:cubicBezTo>
                    <a:pt x="45766" y="10036"/>
                    <a:pt x="69995" y="0"/>
                    <a:pt x="95260" y="0"/>
                  </a:cubicBezTo>
                  <a:close/>
                </a:path>
              </a:pathLst>
            </a:custGeom>
            <a:solidFill>
              <a:srgbClr val="E8ECEC"/>
            </a:solidFill>
          </p:spPr>
        </p:sp>
        <p:sp>
          <p:nvSpPr>
            <p:cNvPr name="TextBox 12" id="12"/>
            <p:cNvSpPr txBox="true"/>
            <p:nvPr/>
          </p:nvSpPr>
          <p:spPr>
            <a:xfrm>
              <a:off x="0" y="-38100"/>
              <a:ext cx="1091647" cy="921577"/>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4042244" y="6526444"/>
            <a:ext cx="4144845" cy="3354450"/>
            <a:chOff x="0" y="0"/>
            <a:chExt cx="1091647" cy="883477"/>
          </a:xfrm>
        </p:grpSpPr>
        <p:sp>
          <p:nvSpPr>
            <p:cNvPr name="Freeform 14" id="14"/>
            <p:cNvSpPr/>
            <p:nvPr/>
          </p:nvSpPr>
          <p:spPr>
            <a:xfrm flipH="false" flipV="false" rot="0">
              <a:off x="0" y="0"/>
              <a:ext cx="1091647" cy="883477"/>
            </a:xfrm>
            <a:custGeom>
              <a:avLst/>
              <a:gdLst/>
              <a:ahLst/>
              <a:cxnLst/>
              <a:rect r="r" b="b" t="t" l="l"/>
              <a:pathLst>
                <a:path h="883477" w="1091647">
                  <a:moveTo>
                    <a:pt x="95260" y="0"/>
                  </a:moveTo>
                  <a:lnTo>
                    <a:pt x="996387" y="0"/>
                  </a:lnTo>
                  <a:cubicBezTo>
                    <a:pt x="1021651" y="0"/>
                    <a:pt x="1045881" y="10036"/>
                    <a:pt x="1063746" y="27901"/>
                  </a:cubicBezTo>
                  <a:cubicBezTo>
                    <a:pt x="1081610" y="45766"/>
                    <a:pt x="1091647" y="69995"/>
                    <a:pt x="1091647" y="95260"/>
                  </a:cubicBezTo>
                  <a:lnTo>
                    <a:pt x="1091647" y="788217"/>
                  </a:lnTo>
                  <a:cubicBezTo>
                    <a:pt x="1091647" y="840827"/>
                    <a:pt x="1048997" y="883477"/>
                    <a:pt x="996387" y="883477"/>
                  </a:cubicBezTo>
                  <a:lnTo>
                    <a:pt x="95260" y="883477"/>
                  </a:lnTo>
                  <a:cubicBezTo>
                    <a:pt x="69995" y="883477"/>
                    <a:pt x="45766" y="873440"/>
                    <a:pt x="27901" y="855576"/>
                  </a:cubicBezTo>
                  <a:cubicBezTo>
                    <a:pt x="10036" y="837711"/>
                    <a:pt x="0" y="813481"/>
                    <a:pt x="0" y="788217"/>
                  </a:cubicBezTo>
                  <a:lnTo>
                    <a:pt x="0" y="95260"/>
                  </a:lnTo>
                  <a:cubicBezTo>
                    <a:pt x="0" y="69995"/>
                    <a:pt x="10036" y="45766"/>
                    <a:pt x="27901" y="27901"/>
                  </a:cubicBezTo>
                  <a:cubicBezTo>
                    <a:pt x="45766" y="10036"/>
                    <a:pt x="69995" y="0"/>
                    <a:pt x="95260" y="0"/>
                  </a:cubicBezTo>
                  <a:close/>
                </a:path>
              </a:pathLst>
            </a:custGeom>
            <a:solidFill>
              <a:srgbClr val="D5E1FF"/>
            </a:solidFill>
          </p:spPr>
        </p:sp>
        <p:sp>
          <p:nvSpPr>
            <p:cNvPr name="TextBox 15" id="15"/>
            <p:cNvSpPr txBox="true"/>
            <p:nvPr/>
          </p:nvSpPr>
          <p:spPr>
            <a:xfrm>
              <a:off x="0" y="-38100"/>
              <a:ext cx="1091647" cy="921577"/>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386530" y="6526444"/>
            <a:ext cx="4144845" cy="3354450"/>
            <a:chOff x="0" y="0"/>
            <a:chExt cx="1091647" cy="883477"/>
          </a:xfrm>
        </p:grpSpPr>
        <p:sp>
          <p:nvSpPr>
            <p:cNvPr name="Freeform 17" id="17"/>
            <p:cNvSpPr/>
            <p:nvPr/>
          </p:nvSpPr>
          <p:spPr>
            <a:xfrm flipH="false" flipV="false" rot="0">
              <a:off x="0" y="0"/>
              <a:ext cx="1091647" cy="883477"/>
            </a:xfrm>
            <a:custGeom>
              <a:avLst/>
              <a:gdLst/>
              <a:ahLst/>
              <a:cxnLst/>
              <a:rect r="r" b="b" t="t" l="l"/>
              <a:pathLst>
                <a:path h="883477" w="1091647">
                  <a:moveTo>
                    <a:pt x="95260" y="0"/>
                  </a:moveTo>
                  <a:lnTo>
                    <a:pt x="996387" y="0"/>
                  </a:lnTo>
                  <a:cubicBezTo>
                    <a:pt x="1021651" y="0"/>
                    <a:pt x="1045881" y="10036"/>
                    <a:pt x="1063746" y="27901"/>
                  </a:cubicBezTo>
                  <a:cubicBezTo>
                    <a:pt x="1081610" y="45766"/>
                    <a:pt x="1091647" y="69995"/>
                    <a:pt x="1091647" y="95260"/>
                  </a:cubicBezTo>
                  <a:lnTo>
                    <a:pt x="1091647" y="788217"/>
                  </a:lnTo>
                  <a:cubicBezTo>
                    <a:pt x="1091647" y="840827"/>
                    <a:pt x="1048997" y="883477"/>
                    <a:pt x="996387" y="883477"/>
                  </a:cubicBezTo>
                  <a:lnTo>
                    <a:pt x="95260" y="883477"/>
                  </a:lnTo>
                  <a:cubicBezTo>
                    <a:pt x="69995" y="883477"/>
                    <a:pt x="45766" y="873440"/>
                    <a:pt x="27901" y="855576"/>
                  </a:cubicBezTo>
                  <a:cubicBezTo>
                    <a:pt x="10036" y="837711"/>
                    <a:pt x="0" y="813481"/>
                    <a:pt x="0" y="788217"/>
                  </a:cubicBezTo>
                  <a:lnTo>
                    <a:pt x="0" y="95260"/>
                  </a:lnTo>
                  <a:cubicBezTo>
                    <a:pt x="0" y="69995"/>
                    <a:pt x="10036" y="45766"/>
                    <a:pt x="27901" y="27901"/>
                  </a:cubicBezTo>
                  <a:cubicBezTo>
                    <a:pt x="45766" y="10036"/>
                    <a:pt x="69995" y="0"/>
                    <a:pt x="95260" y="0"/>
                  </a:cubicBezTo>
                  <a:close/>
                </a:path>
              </a:pathLst>
            </a:custGeom>
            <a:solidFill>
              <a:srgbClr val="D5E1FF"/>
            </a:solidFill>
          </p:spPr>
        </p:sp>
        <p:sp>
          <p:nvSpPr>
            <p:cNvPr name="TextBox 18" id="18"/>
            <p:cNvSpPr txBox="true"/>
            <p:nvPr/>
          </p:nvSpPr>
          <p:spPr>
            <a:xfrm>
              <a:off x="0" y="-38100"/>
              <a:ext cx="1091647" cy="921577"/>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6611651" y="2705269"/>
            <a:ext cx="4144845" cy="3354450"/>
            <a:chOff x="0" y="0"/>
            <a:chExt cx="1091647" cy="883477"/>
          </a:xfrm>
        </p:grpSpPr>
        <p:sp>
          <p:nvSpPr>
            <p:cNvPr name="Freeform 20" id="20"/>
            <p:cNvSpPr/>
            <p:nvPr/>
          </p:nvSpPr>
          <p:spPr>
            <a:xfrm flipH="false" flipV="false" rot="0">
              <a:off x="0" y="0"/>
              <a:ext cx="1091647" cy="883477"/>
            </a:xfrm>
            <a:custGeom>
              <a:avLst/>
              <a:gdLst/>
              <a:ahLst/>
              <a:cxnLst/>
              <a:rect r="r" b="b" t="t" l="l"/>
              <a:pathLst>
                <a:path h="883477" w="1091647">
                  <a:moveTo>
                    <a:pt x="95260" y="0"/>
                  </a:moveTo>
                  <a:lnTo>
                    <a:pt x="996387" y="0"/>
                  </a:lnTo>
                  <a:cubicBezTo>
                    <a:pt x="1021651" y="0"/>
                    <a:pt x="1045881" y="10036"/>
                    <a:pt x="1063746" y="27901"/>
                  </a:cubicBezTo>
                  <a:cubicBezTo>
                    <a:pt x="1081610" y="45766"/>
                    <a:pt x="1091647" y="69995"/>
                    <a:pt x="1091647" y="95260"/>
                  </a:cubicBezTo>
                  <a:lnTo>
                    <a:pt x="1091647" y="788217"/>
                  </a:lnTo>
                  <a:cubicBezTo>
                    <a:pt x="1091647" y="840827"/>
                    <a:pt x="1048997" y="883477"/>
                    <a:pt x="996387" y="883477"/>
                  </a:cubicBezTo>
                  <a:lnTo>
                    <a:pt x="95260" y="883477"/>
                  </a:lnTo>
                  <a:cubicBezTo>
                    <a:pt x="69995" y="883477"/>
                    <a:pt x="45766" y="873440"/>
                    <a:pt x="27901" y="855576"/>
                  </a:cubicBezTo>
                  <a:cubicBezTo>
                    <a:pt x="10036" y="837711"/>
                    <a:pt x="0" y="813481"/>
                    <a:pt x="0" y="788217"/>
                  </a:cubicBezTo>
                  <a:lnTo>
                    <a:pt x="0" y="95260"/>
                  </a:lnTo>
                  <a:cubicBezTo>
                    <a:pt x="0" y="69995"/>
                    <a:pt x="10036" y="45766"/>
                    <a:pt x="27901" y="27901"/>
                  </a:cubicBezTo>
                  <a:cubicBezTo>
                    <a:pt x="45766" y="10036"/>
                    <a:pt x="69995" y="0"/>
                    <a:pt x="95260" y="0"/>
                  </a:cubicBezTo>
                  <a:close/>
                </a:path>
              </a:pathLst>
            </a:custGeom>
            <a:solidFill>
              <a:srgbClr val="E8ECEC"/>
            </a:solidFill>
          </p:spPr>
        </p:sp>
        <p:sp>
          <p:nvSpPr>
            <p:cNvPr name="TextBox 21" id="21"/>
            <p:cNvSpPr txBox="true"/>
            <p:nvPr/>
          </p:nvSpPr>
          <p:spPr>
            <a:xfrm>
              <a:off x="0" y="-38100"/>
              <a:ext cx="1091647" cy="921577"/>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1690112" y="2705269"/>
            <a:ext cx="4144845" cy="3354450"/>
            <a:chOff x="0" y="0"/>
            <a:chExt cx="1091647" cy="883477"/>
          </a:xfrm>
        </p:grpSpPr>
        <p:sp>
          <p:nvSpPr>
            <p:cNvPr name="Freeform 23" id="23"/>
            <p:cNvSpPr/>
            <p:nvPr/>
          </p:nvSpPr>
          <p:spPr>
            <a:xfrm flipH="false" flipV="false" rot="0">
              <a:off x="0" y="0"/>
              <a:ext cx="1091647" cy="883477"/>
            </a:xfrm>
            <a:custGeom>
              <a:avLst/>
              <a:gdLst/>
              <a:ahLst/>
              <a:cxnLst/>
              <a:rect r="r" b="b" t="t" l="l"/>
              <a:pathLst>
                <a:path h="883477" w="1091647">
                  <a:moveTo>
                    <a:pt x="95260" y="0"/>
                  </a:moveTo>
                  <a:lnTo>
                    <a:pt x="996387" y="0"/>
                  </a:lnTo>
                  <a:cubicBezTo>
                    <a:pt x="1021651" y="0"/>
                    <a:pt x="1045881" y="10036"/>
                    <a:pt x="1063746" y="27901"/>
                  </a:cubicBezTo>
                  <a:cubicBezTo>
                    <a:pt x="1081610" y="45766"/>
                    <a:pt x="1091647" y="69995"/>
                    <a:pt x="1091647" y="95260"/>
                  </a:cubicBezTo>
                  <a:lnTo>
                    <a:pt x="1091647" y="788217"/>
                  </a:lnTo>
                  <a:cubicBezTo>
                    <a:pt x="1091647" y="840827"/>
                    <a:pt x="1048997" y="883477"/>
                    <a:pt x="996387" y="883477"/>
                  </a:cubicBezTo>
                  <a:lnTo>
                    <a:pt x="95260" y="883477"/>
                  </a:lnTo>
                  <a:cubicBezTo>
                    <a:pt x="69995" y="883477"/>
                    <a:pt x="45766" y="873440"/>
                    <a:pt x="27901" y="855576"/>
                  </a:cubicBezTo>
                  <a:cubicBezTo>
                    <a:pt x="10036" y="837711"/>
                    <a:pt x="0" y="813481"/>
                    <a:pt x="0" y="788217"/>
                  </a:cubicBezTo>
                  <a:lnTo>
                    <a:pt x="0" y="95260"/>
                  </a:lnTo>
                  <a:cubicBezTo>
                    <a:pt x="0" y="69995"/>
                    <a:pt x="10036" y="45766"/>
                    <a:pt x="27901" y="27901"/>
                  </a:cubicBezTo>
                  <a:cubicBezTo>
                    <a:pt x="45766" y="10036"/>
                    <a:pt x="69995" y="0"/>
                    <a:pt x="95260" y="0"/>
                  </a:cubicBezTo>
                  <a:close/>
                </a:path>
              </a:pathLst>
            </a:custGeom>
            <a:solidFill>
              <a:srgbClr val="E8ECEC"/>
            </a:solidFill>
          </p:spPr>
        </p:sp>
        <p:sp>
          <p:nvSpPr>
            <p:cNvPr name="TextBox 24" id="24"/>
            <p:cNvSpPr txBox="true"/>
            <p:nvPr/>
          </p:nvSpPr>
          <p:spPr>
            <a:xfrm>
              <a:off x="0" y="-38100"/>
              <a:ext cx="1091647" cy="921577"/>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2709791" y="2987245"/>
            <a:ext cx="1791643" cy="422176"/>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Open Sans Bold"/>
                <a:ea typeface="Open Sans Bold"/>
                <a:cs typeface="Open Sans Bold"/>
                <a:sym typeface="Open Sans Bold"/>
              </a:rPr>
              <a:t>Đọc dữ liệu</a:t>
            </a:r>
          </a:p>
        </p:txBody>
      </p:sp>
      <p:sp>
        <p:nvSpPr>
          <p:cNvPr name="TextBox 26" id="26"/>
          <p:cNvSpPr txBox="true"/>
          <p:nvPr/>
        </p:nvSpPr>
        <p:spPr>
          <a:xfrm rot="0">
            <a:off x="2444939" y="5275593"/>
            <a:ext cx="2321347" cy="422176"/>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Open Sans Bold"/>
                <a:ea typeface="Open Sans Bold"/>
                <a:cs typeface="Open Sans Bold"/>
                <a:sym typeface="Open Sans Bold"/>
              </a:rPr>
              <a:t>861 cột dữ liệu</a:t>
            </a:r>
          </a:p>
        </p:txBody>
      </p:sp>
      <p:sp>
        <p:nvSpPr>
          <p:cNvPr name="TextBox 27" id="27"/>
          <p:cNvSpPr txBox="true"/>
          <p:nvPr/>
        </p:nvSpPr>
        <p:spPr>
          <a:xfrm rot="0">
            <a:off x="14729835" y="7692596"/>
            <a:ext cx="1349402" cy="86042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Open Sans Bold"/>
                <a:ea typeface="Open Sans Bold"/>
                <a:cs typeface="Open Sans Bold"/>
                <a:sym typeface="Open Sans Bold"/>
              </a:rPr>
              <a:t>389 cột dữ liệu</a:t>
            </a:r>
          </a:p>
        </p:txBody>
      </p:sp>
      <p:sp>
        <p:nvSpPr>
          <p:cNvPr name="TextBox 28" id="28"/>
          <p:cNvSpPr txBox="true"/>
          <p:nvPr/>
        </p:nvSpPr>
        <p:spPr>
          <a:xfrm rot="0">
            <a:off x="1853043" y="3793643"/>
            <a:ext cx="3505138" cy="1200150"/>
          </a:xfrm>
          <a:prstGeom prst="rect">
            <a:avLst/>
          </a:prstGeom>
        </p:spPr>
        <p:txBody>
          <a:bodyPr anchor="t" rtlCol="false" tIns="0" lIns="0" bIns="0" rIns="0">
            <a:spAutoFit/>
          </a:bodyPr>
          <a:lstStyle/>
          <a:p>
            <a:pPr algn="just" marL="431799" indent="-215899" lvl="1">
              <a:lnSpc>
                <a:spcPts val="3299"/>
              </a:lnSpc>
              <a:buFont typeface="Arial"/>
              <a:buChar char="•"/>
            </a:pPr>
            <a:r>
              <a:rPr lang="en-US" sz="1999">
                <a:solidFill>
                  <a:srgbClr val="000000"/>
                </a:solidFill>
                <a:latin typeface="Open Sans"/>
                <a:ea typeface="Open Sans"/>
                <a:cs typeface="Open Sans"/>
                <a:sym typeface="Open Sans"/>
              </a:rPr>
              <a:t>Gán loại dữ liệu</a:t>
            </a:r>
          </a:p>
          <a:p>
            <a:pPr algn="just" marL="431799" indent="-215899" lvl="1">
              <a:lnSpc>
                <a:spcPts val="3299"/>
              </a:lnSpc>
              <a:buFont typeface="Arial"/>
              <a:buChar char="•"/>
            </a:pPr>
            <a:r>
              <a:rPr lang="en-US" sz="1999">
                <a:solidFill>
                  <a:srgbClr val="000000"/>
                </a:solidFill>
                <a:latin typeface="Open Sans"/>
                <a:ea typeface="Open Sans"/>
                <a:cs typeface="Open Sans"/>
                <a:sym typeface="Open Sans"/>
              </a:rPr>
              <a:t>Tổng hợp dữ liệu theo case_id</a:t>
            </a:r>
          </a:p>
        </p:txBody>
      </p:sp>
      <p:sp>
        <p:nvSpPr>
          <p:cNvPr name="TextBox 29" id="29"/>
          <p:cNvSpPr txBox="true"/>
          <p:nvPr/>
        </p:nvSpPr>
        <p:spPr>
          <a:xfrm rot="0">
            <a:off x="6869114" y="3013205"/>
            <a:ext cx="3629918" cy="39624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Open Sans Bold"/>
                <a:ea typeface="Open Sans Bold"/>
                <a:cs typeface="Open Sans Bold"/>
                <a:sym typeface="Open Sans Bold"/>
              </a:rPr>
              <a:t>Kết nối các bảng dữ liệu</a:t>
            </a:r>
          </a:p>
        </p:txBody>
      </p:sp>
      <p:sp>
        <p:nvSpPr>
          <p:cNvPr name="TextBox 30" id="30"/>
          <p:cNvSpPr txBox="true"/>
          <p:nvPr/>
        </p:nvSpPr>
        <p:spPr>
          <a:xfrm rot="0">
            <a:off x="6869176" y="3944393"/>
            <a:ext cx="3505138" cy="790575"/>
          </a:xfrm>
          <a:prstGeom prst="rect">
            <a:avLst/>
          </a:prstGeom>
        </p:spPr>
        <p:txBody>
          <a:bodyPr anchor="t" rtlCol="false" tIns="0" lIns="0" bIns="0" rIns="0">
            <a:spAutoFit/>
          </a:bodyPr>
          <a:lstStyle/>
          <a:p>
            <a:pPr algn="just" marL="431799" indent="-215899" lvl="1">
              <a:lnSpc>
                <a:spcPts val="3299"/>
              </a:lnSpc>
              <a:buFont typeface="Arial"/>
              <a:buChar char="•"/>
            </a:pPr>
            <a:r>
              <a:rPr lang="en-US" sz="1999">
                <a:solidFill>
                  <a:srgbClr val="000000"/>
                </a:solidFill>
                <a:latin typeface="Open Sans"/>
                <a:ea typeface="Open Sans"/>
                <a:cs typeface="Open Sans"/>
                <a:sym typeface="Open Sans"/>
              </a:rPr>
              <a:t>Nối các bảng theo case_id</a:t>
            </a:r>
          </a:p>
          <a:p>
            <a:pPr algn="just" marL="431799" indent="-215899" lvl="1">
              <a:lnSpc>
                <a:spcPts val="3299"/>
              </a:lnSpc>
              <a:buFont typeface="Arial"/>
              <a:buChar char="•"/>
            </a:pPr>
            <a:r>
              <a:rPr lang="en-US" sz="1999">
                <a:solidFill>
                  <a:srgbClr val="000000"/>
                </a:solidFill>
                <a:latin typeface="Open Sans"/>
                <a:ea typeface="Open Sans"/>
                <a:cs typeface="Open Sans"/>
                <a:sym typeface="Open Sans"/>
              </a:rPr>
              <a:t>Xử lý cột loại ‘date’</a:t>
            </a:r>
          </a:p>
        </p:txBody>
      </p:sp>
      <p:sp>
        <p:nvSpPr>
          <p:cNvPr name="TextBox 31" id="31"/>
          <p:cNvSpPr txBox="true"/>
          <p:nvPr/>
        </p:nvSpPr>
        <p:spPr>
          <a:xfrm rot="0">
            <a:off x="12894519" y="3003680"/>
            <a:ext cx="1736031"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Open Sans Bold"/>
                <a:ea typeface="Open Sans Bold"/>
                <a:cs typeface="Open Sans Bold"/>
                <a:sym typeface="Open Sans Bold"/>
              </a:rPr>
              <a:t>Lọc dữ liệu</a:t>
            </a:r>
          </a:p>
        </p:txBody>
      </p:sp>
      <p:sp>
        <p:nvSpPr>
          <p:cNvPr name="TextBox 32" id="32"/>
          <p:cNvSpPr txBox="true"/>
          <p:nvPr/>
        </p:nvSpPr>
        <p:spPr>
          <a:xfrm rot="0">
            <a:off x="11949376" y="3492532"/>
            <a:ext cx="3626318" cy="2019300"/>
          </a:xfrm>
          <a:prstGeom prst="rect">
            <a:avLst/>
          </a:prstGeom>
        </p:spPr>
        <p:txBody>
          <a:bodyPr anchor="t" rtlCol="false" tIns="0" lIns="0" bIns="0" rIns="0">
            <a:spAutoFit/>
          </a:bodyPr>
          <a:lstStyle/>
          <a:p>
            <a:pPr algn="l" marL="431799" indent="-215899" lvl="1">
              <a:lnSpc>
                <a:spcPts val="3299"/>
              </a:lnSpc>
              <a:buFont typeface="Arial"/>
              <a:buChar char="•"/>
            </a:pPr>
            <a:r>
              <a:rPr lang="en-US" sz="1999">
                <a:solidFill>
                  <a:srgbClr val="000000"/>
                </a:solidFill>
                <a:latin typeface="Open Sans"/>
                <a:ea typeface="Open Sans"/>
                <a:cs typeface="Open Sans"/>
                <a:sym typeface="Open Sans"/>
              </a:rPr>
              <a:t>Loại bỏ cột có trên 70% là NULL</a:t>
            </a:r>
          </a:p>
          <a:p>
            <a:pPr algn="l" marL="431799" indent="-215899" lvl="1">
              <a:lnSpc>
                <a:spcPts val="3299"/>
              </a:lnSpc>
              <a:buFont typeface="Arial"/>
              <a:buChar char="•"/>
            </a:pPr>
            <a:r>
              <a:rPr lang="en-US" sz="1999">
                <a:solidFill>
                  <a:srgbClr val="000000"/>
                </a:solidFill>
                <a:latin typeface="Open Sans"/>
                <a:ea typeface="Open Sans"/>
                <a:cs typeface="Open Sans"/>
                <a:sym typeface="Open Sans"/>
              </a:rPr>
              <a:t>Cột loại ‘string’: loại bỏ cột có 1 nhãn và nhiều hơn 200 nhãn</a:t>
            </a:r>
          </a:p>
        </p:txBody>
      </p:sp>
      <p:sp>
        <p:nvSpPr>
          <p:cNvPr name="TextBox 33" id="33"/>
          <p:cNvSpPr txBox="true"/>
          <p:nvPr/>
        </p:nvSpPr>
        <p:spPr>
          <a:xfrm rot="0">
            <a:off x="4228568" y="6955115"/>
            <a:ext cx="3772198" cy="396240"/>
          </a:xfrm>
          <a:prstGeom prst="rect">
            <a:avLst/>
          </a:prstGeom>
        </p:spPr>
        <p:txBody>
          <a:bodyPr anchor="t" rtlCol="false" tIns="0" lIns="0" bIns="0" rIns="0">
            <a:spAutoFit/>
          </a:bodyPr>
          <a:lstStyle/>
          <a:p>
            <a:pPr algn="ctr">
              <a:lnSpc>
                <a:spcPts val="3359"/>
              </a:lnSpc>
              <a:spcBef>
                <a:spcPct val="0"/>
              </a:spcBef>
            </a:pPr>
            <a:r>
              <a:rPr lang="en-US" b="true" sz="2399">
                <a:solidFill>
                  <a:srgbClr val="000000"/>
                </a:solidFill>
                <a:latin typeface="Open Sans Bold"/>
                <a:ea typeface="Open Sans Bold"/>
                <a:cs typeface="Open Sans Bold"/>
                <a:sym typeface="Open Sans Bold"/>
              </a:rPr>
              <a:t>Giảm dung lượng bộ nhớ</a:t>
            </a:r>
          </a:p>
        </p:txBody>
      </p:sp>
      <p:sp>
        <p:nvSpPr>
          <p:cNvPr name="TextBox 34" id="34"/>
          <p:cNvSpPr txBox="true"/>
          <p:nvPr/>
        </p:nvSpPr>
        <p:spPr>
          <a:xfrm rot="0">
            <a:off x="4362097" y="7931046"/>
            <a:ext cx="3470516" cy="1200150"/>
          </a:xfrm>
          <a:prstGeom prst="rect">
            <a:avLst/>
          </a:prstGeom>
        </p:spPr>
        <p:txBody>
          <a:bodyPr anchor="t" rtlCol="false" tIns="0" lIns="0" bIns="0" rIns="0">
            <a:spAutoFit/>
          </a:bodyPr>
          <a:lstStyle/>
          <a:p>
            <a:pPr algn="l" marL="431799" indent="-215899" lvl="1">
              <a:lnSpc>
                <a:spcPts val="3299"/>
              </a:lnSpc>
              <a:buFont typeface="Arial"/>
              <a:buChar char="•"/>
            </a:pPr>
            <a:r>
              <a:rPr lang="en-US" sz="1999">
                <a:solidFill>
                  <a:srgbClr val="000000"/>
                </a:solidFill>
                <a:latin typeface="Open Sans"/>
                <a:ea typeface="Open Sans"/>
                <a:cs typeface="Open Sans"/>
                <a:sym typeface="Open Sans"/>
              </a:rPr>
              <a:t>Các cột loại ‘int’ và ‘float’:</a:t>
            </a:r>
          </a:p>
          <a:p>
            <a:pPr algn="l">
              <a:lnSpc>
                <a:spcPts val="3299"/>
              </a:lnSpc>
            </a:pPr>
            <a:r>
              <a:rPr lang="en-US" sz="1999">
                <a:solidFill>
                  <a:srgbClr val="000000"/>
                </a:solidFill>
                <a:latin typeface="Open Sans"/>
                <a:ea typeface="Open Sans"/>
                <a:cs typeface="Open Sans"/>
                <a:sym typeface="Open Sans"/>
              </a:rPr>
              <a:t>Thay đổi các kiểu dữ liệu phù hợp</a:t>
            </a:r>
          </a:p>
        </p:txBody>
      </p:sp>
      <p:sp>
        <p:nvSpPr>
          <p:cNvPr name="TextBox 35" id="35"/>
          <p:cNvSpPr txBox="true"/>
          <p:nvPr/>
        </p:nvSpPr>
        <p:spPr>
          <a:xfrm rot="0">
            <a:off x="10590937" y="6750397"/>
            <a:ext cx="1736031" cy="422275"/>
          </a:xfrm>
          <a:prstGeom prst="rect">
            <a:avLst/>
          </a:prstGeom>
        </p:spPr>
        <p:txBody>
          <a:bodyPr anchor="t" rtlCol="false" tIns="0" lIns="0" bIns="0" rIns="0">
            <a:spAutoFit/>
          </a:bodyPr>
          <a:lstStyle/>
          <a:p>
            <a:pPr algn="ctr">
              <a:lnSpc>
                <a:spcPts val="3499"/>
              </a:lnSpc>
              <a:spcBef>
                <a:spcPct val="0"/>
              </a:spcBef>
            </a:pPr>
            <a:r>
              <a:rPr lang="en-US" b="true" sz="2499">
                <a:solidFill>
                  <a:srgbClr val="000000"/>
                </a:solidFill>
                <a:latin typeface="Open Sans Bold"/>
                <a:ea typeface="Open Sans Bold"/>
                <a:cs typeface="Open Sans Bold"/>
                <a:sym typeface="Open Sans Bold"/>
              </a:rPr>
              <a:t>Lọc dữ liệu</a:t>
            </a:r>
          </a:p>
        </p:txBody>
      </p:sp>
      <p:sp>
        <p:nvSpPr>
          <p:cNvPr name="TextBox 36" id="36"/>
          <p:cNvSpPr txBox="true"/>
          <p:nvPr/>
        </p:nvSpPr>
        <p:spPr>
          <a:xfrm rot="0">
            <a:off x="9645793" y="7239248"/>
            <a:ext cx="3643629" cy="2428875"/>
          </a:xfrm>
          <a:prstGeom prst="rect">
            <a:avLst/>
          </a:prstGeom>
        </p:spPr>
        <p:txBody>
          <a:bodyPr anchor="t" rtlCol="false" tIns="0" lIns="0" bIns="0" rIns="0">
            <a:spAutoFit/>
          </a:bodyPr>
          <a:lstStyle/>
          <a:p>
            <a:pPr algn="l" marL="431799" indent="-215899" lvl="1">
              <a:lnSpc>
                <a:spcPts val="3299"/>
              </a:lnSpc>
              <a:buFont typeface="Arial"/>
              <a:buChar char="•"/>
            </a:pPr>
            <a:r>
              <a:rPr lang="en-US" sz="1999">
                <a:solidFill>
                  <a:srgbClr val="000000"/>
                </a:solidFill>
                <a:latin typeface="Open Sans"/>
                <a:ea typeface="Open Sans"/>
                <a:cs typeface="Open Sans"/>
                <a:sym typeface="Open Sans"/>
              </a:rPr>
              <a:t>Xử lý các cột khác loại ‘category’</a:t>
            </a:r>
          </a:p>
          <a:p>
            <a:pPr algn="l" marL="431799" indent="-215899" lvl="1">
              <a:lnSpc>
                <a:spcPts val="3299"/>
              </a:lnSpc>
              <a:buFont typeface="Arial"/>
              <a:buChar char="•"/>
            </a:pPr>
            <a:r>
              <a:rPr lang="en-US" sz="1999">
                <a:solidFill>
                  <a:srgbClr val="000000"/>
                </a:solidFill>
                <a:latin typeface="Open Sans"/>
                <a:ea typeface="Open Sans"/>
                <a:cs typeface="Open Sans"/>
                <a:sym typeface="Open Sans"/>
              </a:rPr>
              <a:t>Chỉ lấy ra một cột đại diện của các nhóm cột có độ tương quan (correlation) cao với nhau</a:t>
            </a:r>
          </a:p>
        </p:txBody>
      </p:sp>
      <p:sp>
        <p:nvSpPr>
          <p:cNvPr name="AutoShape 37" id="37"/>
          <p:cNvSpPr/>
          <p:nvPr/>
        </p:nvSpPr>
        <p:spPr>
          <a:xfrm flipV="true">
            <a:off x="5678035" y="4382494"/>
            <a:ext cx="933616" cy="162426"/>
          </a:xfrm>
          <a:prstGeom prst="line">
            <a:avLst/>
          </a:prstGeom>
          <a:ln cap="flat" w="38100">
            <a:solidFill>
              <a:srgbClr val="000000"/>
            </a:solidFill>
            <a:prstDash val="solid"/>
            <a:headEnd type="none" len="sm" w="sm"/>
            <a:tailEnd type="arrow" len="sm" w="med"/>
          </a:ln>
        </p:spPr>
      </p:sp>
      <p:sp>
        <p:nvSpPr>
          <p:cNvPr name="AutoShape 38" id="38"/>
          <p:cNvSpPr/>
          <p:nvPr/>
        </p:nvSpPr>
        <p:spPr>
          <a:xfrm>
            <a:off x="10756496" y="4382494"/>
            <a:ext cx="933616" cy="0"/>
          </a:xfrm>
          <a:prstGeom prst="line">
            <a:avLst/>
          </a:prstGeom>
          <a:ln cap="flat" w="38100">
            <a:solidFill>
              <a:srgbClr val="000000"/>
            </a:solidFill>
            <a:prstDash val="solid"/>
            <a:headEnd type="none" len="sm" w="sm"/>
            <a:tailEnd type="arrow" len="sm" w="med"/>
          </a:ln>
        </p:spPr>
      </p:sp>
      <p:sp>
        <p:nvSpPr>
          <p:cNvPr name="AutoShape 39" id="39"/>
          <p:cNvSpPr/>
          <p:nvPr/>
        </p:nvSpPr>
        <p:spPr>
          <a:xfrm>
            <a:off x="15834957" y="4417456"/>
            <a:ext cx="933616" cy="0"/>
          </a:xfrm>
          <a:prstGeom prst="line">
            <a:avLst/>
          </a:prstGeom>
          <a:ln cap="flat" w="38100">
            <a:solidFill>
              <a:srgbClr val="000000"/>
            </a:solidFill>
            <a:prstDash val="solid"/>
            <a:headEnd type="none" len="sm" w="sm"/>
            <a:tailEnd type="arrow" len="sm" w="med"/>
          </a:ln>
        </p:spPr>
      </p:sp>
      <p:sp>
        <p:nvSpPr>
          <p:cNvPr name="AutoShape 40" id="40"/>
          <p:cNvSpPr/>
          <p:nvPr/>
        </p:nvSpPr>
        <p:spPr>
          <a:xfrm>
            <a:off x="3108628" y="8203669"/>
            <a:ext cx="933616" cy="0"/>
          </a:xfrm>
          <a:prstGeom prst="line">
            <a:avLst/>
          </a:prstGeom>
          <a:ln cap="flat" w="38100">
            <a:solidFill>
              <a:srgbClr val="000000"/>
            </a:solidFill>
            <a:prstDash val="solid"/>
            <a:headEnd type="none" len="sm" w="sm"/>
            <a:tailEnd type="arrow" len="sm" w="med"/>
          </a:ln>
        </p:spPr>
      </p:sp>
      <p:sp>
        <p:nvSpPr>
          <p:cNvPr name="AutoShape 41" id="41"/>
          <p:cNvSpPr/>
          <p:nvPr/>
        </p:nvSpPr>
        <p:spPr>
          <a:xfrm>
            <a:off x="8217265" y="8184619"/>
            <a:ext cx="1169264" cy="19050"/>
          </a:xfrm>
          <a:prstGeom prst="line">
            <a:avLst/>
          </a:prstGeom>
          <a:ln cap="flat" w="38100">
            <a:solidFill>
              <a:srgbClr val="000000"/>
            </a:solidFill>
            <a:prstDash val="solid"/>
            <a:headEnd type="none" len="sm" w="sm"/>
            <a:tailEnd type="arrow" len="sm" w="med"/>
          </a:ln>
        </p:spPr>
      </p:sp>
      <p:sp>
        <p:nvSpPr>
          <p:cNvPr name="AutoShape 42" id="42"/>
          <p:cNvSpPr/>
          <p:nvPr/>
        </p:nvSpPr>
        <p:spPr>
          <a:xfrm>
            <a:off x="13531685" y="8146522"/>
            <a:ext cx="1169264" cy="19050"/>
          </a:xfrm>
          <a:prstGeom prst="line">
            <a:avLst/>
          </a:prstGeom>
          <a:ln cap="flat" w="38100">
            <a:solidFill>
              <a:srgbClr val="000000"/>
            </a:solidFill>
            <a:prstDash val="solid"/>
            <a:headEnd type="none" len="sm" w="sm"/>
            <a:tailEnd type="arrow" len="sm" w="med"/>
          </a:ln>
        </p:spPr>
      </p:sp>
      <p:sp>
        <p:nvSpPr>
          <p:cNvPr name="TextBox 43" id="43"/>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5</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6770594" cy="10287000"/>
            <a:chOff x="0" y="0"/>
            <a:chExt cx="1783202" cy="2709333"/>
          </a:xfrm>
        </p:grpSpPr>
        <p:sp>
          <p:nvSpPr>
            <p:cNvPr name="Freeform 3" id="3"/>
            <p:cNvSpPr/>
            <p:nvPr/>
          </p:nvSpPr>
          <p:spPr>
            <a:xfrm flipH="false" flipV="false" rot="0">
              <a:off x="0" y="0"/>
              <a:ext cx="1783202" cy="2709333"/>
            </a:xfrm>
            <a:custGeom>
              <a:avLst/>
              <a:gdLst/>
              <a:ahLst/>
              <a:cxnLst/>
              <a:rect r="r" b="b" t="t" l="l"/>
              <a:pathLst>
                <a:path h="2709333" w="1783202">
                  <a:moveTo>
                    <a:pt x="0" y="0"/>
                  </a:moveTo>
                  <a:lnTo>
                    <a:pt x="1783202" y="0"/>
                  </a:lnTo>
                  <a:lnTo>
                    <a:pt x="1783202" y="2709333"/>
                  </a:lnTo>
                  <a:lnTo>
                    <a:pt x="0" y="2709333"/>
                  </a:lnTo>
                  <a:close/>
                </a:path>
              </a:pathLst>
            </a:custGeom>
            <a:solidFill>
              <a:srgbClr val="0345E4"/>
            </a:solidFill>
          </p:spPr>
        </p:sp>
        <p:sp>
          <p:nvSpPr>
            <p:cNvPr name="TextBox 4" id="4"/>
            <p:cNvSpPr txBox="true"/>
            <p:nvPr/>
          </p:nvSpPr>
          <p:spPr>
            <a:xfrm>
              <a:off x="0" y="-38100"/>
              <a:ext cx="1783202" cy="2747433"/>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3690228"/>
            <a:ext cx="4568944" cy="1989357"/>
          </a:xfrm>
          <a:prstGeom prst="rect">
            <a:avLst/>
          </a:prstGeom>
        </p:spPr>
        <p:txBody>
          <a:bodyPr anchor="t" rtlCol="false" tIns="0" lIns="0" bIns="0" rIns="0">
            <a:spAutoFit/>
          </a:bodyPr>
          <a:lstStyle/>
          <a:p>
            <a:pPr algn="l">
              <a:lnSpc>
                <a:spcPts val="7419"/>
              </a:lnSpc>
            </a:pPr>
            <a:r>
              <a:rPr lang="en-US" b="true" sz="5299" spc="105">
                <a:solidFill>
                  <a:srgbClr val="FFFFFF"/>
                </a:solidFill>
                <a:latin typeface="Helvetica World Bold"/>
                <a:ea typeface="Helvetica World Bold"/>
                <a:cs typeface="Helvetica World Bold"/>
                <a:sym typeface="Helvetica World Bold"/>
              </a:rPr>
              <a:t>HUẤN LUYỆN MÔ HÌNH</a:t>
            </a:r>
          </a:p>
        </p:txBody>
      </p:sp>
      <p:grpSp>
        <p:nvGrpSpPr>
          <p:cNvPr name="Group 6" id="6"/>
          <p:cNvGrpSpPr/>
          <p:nvPr/>
        </p:nvGrpSpPr>
        <p:grpSpPr>
          <a:xfrm rot="0">
            <a:off x="7931798" y="2241569"/>
            <a:ext cx="1136955" cy="113695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b="true" sz="1899">
                  <a:solidFill>
                    <a:srgbClr val="FFFFFF"/>
                  </a:solidFill>
                  <a:latin typeface="Garet Bold"/>
                  <a:ea typeface="Garet Bold"/>
                  <a:cs typeface="Garet Bold"/>
                  <a:sym typeface="Garet Bold"/>
                </a:rPr>
                <a:t>01</a:t>
              </a:r>
            </a:p>
          </p:txBody>
        </p:sp>
      </p:grpSp>
      <p:sp>
        <p:nvSpPr>
          <p:cNvPr name="TextBox 9" id="9"/>
          <p:cNvSpPr txBox="true"/>
          <p:nvPr/>
        </p:nvSpPr>
        <p:spPr>
          <a:xfrm rot="0">
            <a:off x="9333891" y="2246093"/>
            <a:ext cx="7300301" cy="789042"/>
          </a:xfrm>
          <a:prstGeom prst="rect">
            <a:avLst/>
          </a:prstGeom>
        </p:spPr>
        <p:txBody>
          <a:bodyPr anchor="t" rtlCol="false" tIns="0" lIns="0" bIns="0" rIns="0">
            <a:spAutoFit/>
          </a:bodyPr>
          <a:lstStyle/>
          <a:p>
            <a:pPr algn="l">
              <a:lnSpc>
                <a:spcPts val="6499"/>
              </a:lnSpc>
            </a:pPr>
            <a:r>
              <a:rPr lang="en-US" sz="4642" b="true">
                <a:solidFill>
                  <a:srgbClr val="000000"/>
                </a:solidFill>
                <a:latin typeface="Garet Bold"/>
                <a:ea typeface="Garet Bold"/>
                <a:cs typeface="Garet Bold"/>
                <a:sym typeface="Garet Bold"/>
              </a:rPr>
              <a:t>CatBoost</a:t>
            </a:r>
          </a:p>
        </p:txBody>
      </p:sp>
      <p:grpSp>
        <p:nvGrpSpPr>
          <p:cNvPr name="Group 10" id="10"/>
          <p:cNvGrpSpPr/>
          <p:nvPr/>
        </p:nvGrpSpPr>
        <p:grpSpPr>
          <a:xfrm rot="0">
            <a:off x="7931798" y="4746996"/>
            <a:ext cx="1136955" cy="113695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b="true" sz="1899">
                  <a:solidFill>
                    <a:srgbClr val="FFFFFF"/>
                  </a:solidFill>
                  <a:latin typeface="Garet Bold"/>
                  <a:ea typeface="Garet Bold"/>
                  <a:cs typeface="Garet Bold"/>
                  <a:sym typeface="Garet Bold"/>
                </a:rPr>
                <a:t>02</a:t>
              </a:r>
            </a:p>
          </p:txBody>
        </p:sp>
      </p:grpSp>
      <p:sp>
        <p:nvSpPr>
          <p:cNvPr name="TextBox 13" id="13"/>
          <p:cNvSpPr txBox="true"/>
          <p:nvPr/>
        </p:nvSpPr>
        <p:spPr>
          <a:xfrm rot="0">
            <a:off x="9333891" y="4981271"/>
            <a:ext cx="7300301" cy="789042"/>
          </a:xfrm>
          <a:prstGeom prst="rect">
            <a:avLst/>
          </a:prstGeom>
        </p:spPr>
        <p:txBody>
          <a:bodyPr anchor="t" rtlCol="false" tIns="0" lIns="0" bIns="0" rIns="0">
            <a:spAutoFit/>
          </a:bodyPr>
          <a:lstStyle/>
          <a:p>
            <a:pPr algn="l">
              <a:lnSpc>
                <a:spcPts val="6499"/>
              </a:lnSpc>
            </a:pPr>
            <a:r>
              <a:rPr lang="en-US" sz="4642" b="true">
                <a:solidFill>
                  <a:srgbClr val="000000"/>
                </a:solidFill>
                <a:latin typeface="Garet Bold"/>
                <a:ea typeface="Garet Bold"/>
                <a:cs typeface="Garet Bold"/>
                <a:sym typeface="Garet Bold"/>
              </a:rPr>
              <a:t>LightGBM</a:t>
            </a:r>
          </a:p>
        </p:txBody>
      </p:sp>
      <p:grpSp>
        <p:nvGrpSpPr>
          <p:cNvPr name="Group 14" id="14"/>
          <p:cNvGrpSpPr/>
          <p:nvPr/>
        </p:nvGrpSpPr>
        <p:grpSpPr>
          <a:xfrm rot="0">
            <a:off x="7931798" y="7255551"/>
            <a:ext cx="1136955" cy="113695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16" id="16"/>
            <p:cNvSpPr txBox="true"/>
            <p:nvPr/>
          </p:nvSpPr>
          <p:spPr>
            <a:xfrm>
              <a:off x="76200" y="47625"/>
              <a:ext cx="660400" cy="688975"/>
            </a:xfrm>
            <a:prstGeom prst="rect">
              <a:avLst/>
            </a:prstGeom>
          </p:spPr>
          <p:txBody>
            <a:bodyPr anchor="ctr" rtlCol="false" tIns="50800" lIns="50800" bIns="50800" rIns="50800"/>
            <a:lstStyle/>
            <a:p>
              <a:pPr algn="ctr">
                <a:lnSpc>
                  <a:spcPts val="2659"/>
                </a:lnSpc>
              </a:pPr>
              <a:r>
                <a:rPr lang="en-US" b="true" sz="1899">
                  <a:solidFill>
                    <a:srgbClr val="FFFFFF"/>
                  </a:solidFill>
                  <a:latin typeface="Garet Bold"/>
                  <a:ea typeface="Garet Bold"/>
                  <a:cs typeface="Garet Bold"/>
                  <a:sym typeface="Garet Bold"/>
                </a:rPr>
                <a:t>03</a:t>
              </a:r>
            </a:p>
          </p:txBody>
        </p:sp>
      </p:grpSp>
      <p:grpSp>
        <p:nvGrpSpPr>
          <p:cNvPr name="Group 17" id="17"/>
          <p:cNvGrpSpPr/>
          <p:nvPr/>
        </p:nvGrpSpPr>
        <p:grpSpPr>
          <a:xfrm rot="0">
            <a:off x="15740861" y="6749958"/>
            <a:ext cx="4596322" cy="459632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9333891" y="7386644"/>
            <a:ext cx="7300301" cy="789042"/>
          </a:xfrm>
          <a:prstGeom prst="rect">
            <a:avLst/>
          </a:prstGeom>
        </p:spPr>
        <p:txBody>
          <a:bodyPr anchor="t" rtlCol="false" tIns="0" lIns="0" bIns="0" rIns="0">
            <a:spAutoFit/>
          </a:bodyPr>
          <a:lstStyle/>
          <a:p>
            <a:pPr algn="l">
              <a:lnSpc>
                <a:spcPts val="6499"/>
              </a:lnSpc>
            </a:pPr>
            <a:r>
              <a:rPr lang="en-US" sz="4642" b="true">
                <a:solidFill>
                  <a:srgbClr val="000000"/>
                </a:solidFill>
                <a:latin typeface="Garet Bold"/>
                <a:ea typeface="Garet Bold"/>
                <a:cs typeface="Garet Bold"/>
                <a:sym typeface="Garet Bold"/>
              </a:rPr>
              <a:t>Ensemble learning </a:t>
            </a:r>
          </a:p>
        </p:txBody>
      </p:sp>
      <p:grpSp>
        <p:nvGrpSpPr>
          <p:cNvPr name="Group 21" id="21"/>
          <p:cNvGrpSpPr/>
          <p:nvPr/>
        </p:nvGrpSpPr>
        <p:grpSpPr>
          <a:xfrm rot="5400000">
            <a:off x="14847530" y="1727554"/>
            <a:ext cx="1479329" cy="147932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name="TextBox 23" id="2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5400000">
            <a:off x="15862467" y="2606800"/>
            <a:ext cx="771724" cy="771724"/>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5400000">
            <a:off x="5324660" y="9048119"/>
            <a:ext cx="596043" cy="596043"/>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29" id="2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6</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368147" cy="1543194"/>
            <a:chOff x="0" y="0"/>
            <a:chExt cx="4574327" cy="406438"/>
          </a:xfrm>
        </p:grpSpPr>
        <p:sp>
          <p:nvSpPr>
            <p:cNvPr name="Freeform 3" id="3"/>
            <p:cNvSpPr/>
            <p:nvPr/>
          </p:nvSpPr>
          <p:spPr>
            <a:xfrm flipH="false" flipV="false" rot="0">
              <a:off x="0" y="0"/>
              <a:ext cx="4574327" cy="406438"/>
            </a:xfrm>
            <a:custGeom>
              <a:avLst/>
              <a:gdLst/>
              <a:ahLst/>
              <a:cxnLst/>
              <a:rect r="r" b="b" t="t" l="l"/>
              <a:pathLst>
                <a:path h="406438" w="4574327">
                  <a:moveTo>
                    <a:pt x="0" y="0"/>
                  </a:moveTo>
                  <a:lnTo>
                    <a:pt x="4574327" y="0"/>
                  </a:lnTo>
                  <a:lnTo>
                    <a:pt x="4574327" y="406438"/>
                  </a:lnTo>
                  <a:lnTo>
                    <a:pt x="0" y="406438"/>
                  </a:lnTo>
                  <a:close/>
                </a:path>
              </a:pathLst>
            </a:custGeom>
            <a:solidFill>
              <a:srgbClr val="0345E4"/>
            </a:solidFill>
          </p:spPr>
        </p:sp>
        <p:sp>
          <p:nvSpPr>
            <p:cNvPr name="TextBox 4" id="4"/>
            <p:cNvSpPr txBox="true"/>
            <p:nvPr/>
          </p:nvSpPr>
          <p:spPr>
            <a:xfrm>
              <a:off x="0" y="-38100"/>
              <a:ext cx="4574327" cy="44453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415693" y="6542385"/>
            <a:ext cx="3744615" cy="37446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1628919"/>
            <a:ext cx="7194461" cy="8599496"/>
          </a:xfrm>
          <a:custGeom>
            <a:avLst/>
            <a:gdLst/>
            <a:ahLst/>
            <a:cxnLst/>
            <a:rect r="r" b="b" t="t" l="l"/>
            <a:pathLst>
              <a:path h="8599496" w="7194461">
                <a:moveTo>
                  <a:pt x="0" y="0"/>
                </a:moveTo>
                <a:lnTo>
                  <a:pt x="7194461" y="0"/>
                </a:lnTo>
                <a:lnTo>
                  <a:pt x="7194461" y="8599497"/>
                </a:lnTo>
                <a:lnTo>
                  <a:pt x="0" y="8599497"/>
                </a:lnTo>
                <a:lnTo>
                  <a:pt x="0" y="0"/>
                </a:lnTo>
                <a:close/>
              </a:path>
            </a:pathLst>
          </a:custGeom>
          <a:blipFill>
            <a:blip r:embed="rId2"/>
            <a:stretch>
              <a:fillRect l="0" t="0" r="0" b="0"/>
            </a:stretch>
          </a:blipFill>
        </p:spPr>
      </p:sp>
      <p:sp>
        <p:nvSpPr>
          <p:cNvPr name="TextBox 9" id="9"/>
          <p:cNvSpPr txBox="true"/>
          <p:nvPr/>
        </p:nvSpPr>
        <p:spPr>
          <a:xfrm rot="0">
            <a:off x="919853" y="296934"/>
            <a:ext cx="10769833" cy="923926"/>
          </a:xfrm>
          <a:prstGeom prst="rect">
            <a:avLst/>
          </a:prstGeom>
        </p:spPr>
        <p:txBody>
          <a:bodyPr anchor="t" rtlCol="false" tIns="0" lIns="0" bIns="0" rIns="0">
            <a:spAutoFit/>
          </a:bodyPr>
          <a:lstStyle/>
          <a:p>
            <a:pPr algn="l">
              <a:lnSpc>
                <a:spcPts val="6999"/>
              </a:lnSpc>
            </a:pPr>
            <a:r>
              <a:rPr lang="en-US" b="true" sz="4999" spc="99">
                <a:solidFill>
                  <a:srgbClr val="FFFFFF"/>
                </a:solidFill>
                <a:latin typeface="Helvetica World Bold"/>
                <a:ea typeface="Helvetica World Bold"/>
                <a:cs typeface="Helvetica World Bold"/>
                <a:sym typeface="Helvetica World Bold"/>
              </a:rPr>
              <a:t>CATBOOST</a:t>
            </a:r>
          </a:p>
        </p:txBody>
      </p:sp>
      <p:sp>
        <p:nvSpPr>
          <p:cNvPr name="TextBox 10" id="10"/>
          <p:cNvSpPr txBox="true"/>
          <p:nvPr/>
        </p:nvSpPr>
        <p:spPr>
          <a:xfrm rot="0">
            <a:off x="9144000" y="3710874"/>
            <a:ext cx="8115300" cy="3860802"/>
          </a:xfrm>
          <a:prstGeom prst="rect">
            <a:avLst/>
          </a:prstGeom>
        </p:spPr>
        <p:txBody>
          <a:bodyPr anchor="t" rtlCol="false" tIns="0" lIns="0" bIns="0" rIns="0">
            <a:spAutoFit/>
          </a:bodyPr>
          <a:lstStyle/>
          <a:p>
            <a:pPr algn="just" marL="0" indent="0" lvl="0">
              <a:lnSpc>
                <a:spcPts val="6199"/>
              </a:lnSpc>
            </a:pPr>
            <a:r>
              <a:rPr lang="en-US" sz="3999">
                <a:solidFill>
                  <a:srgbClr val="000000"/>
                </a:solidFill>
                <a:latin typeface="Open Sans"/>
                <a:ea typeface="Open Sans"/>
                <a:cs typeface="Open Sans"/>
                <a:sym typeface="Open Sans"/>
              </a:rPr>
              <a:t>CatBoost kết hợp tất cả các dự đoán từ các cây quyết định thành một dự đoán cuối cùng bằng cách tính trung bình có trọng số của tất cả các dự đoán.</a:t>
            </a:r>
          </a:p>
        </p:txBody>
      </p:sp>
      <p:sp>
        <p:nvSpPr>
          <p:cNvPr name="TextBox 11" id="11"/>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7</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368147" cy="1543194"/>
            <a:chOff x="0" y="0"/>
            <a:chExt cx="4574327" cy="406438"/>
          </a:xfrm>
        </p:grpSpPr>
        <p:sp>
          <p:nvSpPr>
            <p:cNvPr name="Freeform 3" id="3"/>
            <p:cNvSpPr/>
            <p:nvPr/>
          </p:nvSpPr>
          <p:spPr>
            <a:xfrm flipH="false" flipV="false" rot="0">
              <a:off x="0" y="0"/>
              <a:ext cx="4574327" cy="406438"/>
            </a:xfrm>
            <a:custGeom>
              <a:avLst/>
              <a:gdLst/>
              <a:ahLst/>
              <a:cxnLst/>
              <a:rect r="r" b="b" t="t" l="l"/>
              <a:pathLst>
                <a:path h="406438" w="4574327">
                  <a:moveTo>
                    <a:pt x="0" y="0"/>
                  </a:moveTo>
                  <a:lnTo>
                    <a:pt x="4574327" y="0"/>
                  </a:lnTo>
                  <a:lnTo>
                    <a:pt x="4574327" y="406438"/>
                  </a:lnTo>
                  <a:lnTo>
                    <a:pt x="0" y="406438"/>
                  </a:lnTo>
                  <a:close/>
                </a:path>
              </a:pathLst>
            </a:custGeom>
            <a:solidFill>
              <a:srgbClr val="0345E4"/>
            </a:solidFill>
          </p:spPr>
        </p:sp>
        <p:sp>
          <p:nvSpPr>
            <p:cNvPr name="TextBox 4" id="4"/>
            <p:cNvSpPr txBox="true"/>
            <p:nvPr/>
          </p:nvSpPr>
          <p:spPr>
            <a:xfrm>
              <a:off x="0" y="-38100"/>
              <a:ext cx="4574327" cy="44453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945950" y="8027107"/>
            <a:ext cx="3744615" cy="37446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4229278" y="1543194"/>
            <a:ext cx="8909591" cy="3093447"/>
          </a:xfrm>
          <a:custGeom>
            <a:avLst/>
            <a:gdLst/>
            <a:ahLst/>
            <a:cxnLst/>
            <a:rect r="r" b="b" t="t" l="l"/>
            <a:pathLst>
              <a:path h="3093447" w="8909591">
                <a:moveTo>
                  <a:pt x="0" y="0"/>
                </a:moveTo>
                <a:lnTo>
                  <a:pt x="8909591" y="0"/>
                </a:lnTo>
                <a:lnTo>
                  <a:pt x="8909591" y="3093447"/>
                </a:lnTo>
                <a:lnTo>
                  <a:pt x="0" y="3093447"/>
                </a:lnTo>
                <a:lnTo>
                  <a:pt x="0" y="0"/>
                </a:lnTo>
                <a:close/>
              </a:path>
            </a:pathLst>
          </a:custGeom>
          <a:blipFill>
            <a:blip r:embed="rId2"/>
            <a:stretch>
              <a:fillRect l="0" t="0" r="0" b="0"/>
            </a:stretch>
          </a:blipFill>
        </p:spPr>
      </p:sp>
      <p:sp>
        <p:nvSpPr>
          <p:cNvPr name="TextBox 9" id="9"/>
          <p:cNvSpPr txBox="true"/>
          <p:nvPr/>
        </p:nvSpPr>
        <p:spPr>
          <a:xfrm rot="0">
            <a:off x="919853" y="296934"/>
            <a:ext cx="10769833" cy="925464"/>
          </a:xfrm>
          <a:prstGeom prst="rect">
            <a:avLst/>
          </a:prstGeom>
        </p:spPr>
        <p:txBody>
          <a:bodyPr anchor="t" rtlCol="false" tIns="0" lIns="0" bIns="0" rIns="0">
            <a:spAutoFit/>
          </a:bodyPr>
          <a:lstStyle/>
          <a:p>
            <a:pPr algn="l">
              <a:lnSpc>
                <a:spcPts val="6999"/>
              </a:lnSpc>
            </a:pPr>
            <a:r>
              <a:rPr lang="en-US" b="true" sz="4999" spc="99">
                <a:solidFill>
                  <a:srgbClr val="FFFFFF"/>
                </a:solidFill>
                <a:latin typeface="Helvetica World Bold"/>
                <a:ea typeface="Helvetica World Bold"/>
                <a:cs typeface="Helvetica World Bold"/>
                <a:sym typeface="Helvetica World Bold"/>
              </a:rPr>
              <a:t>LIGHTGBM</a:t>
            </a:r>
          </a:p>
        </p:txBody>
      </p:sp>
      <p:sp>
        <p:nvSpPr>
          <p:cNvPr name="TextBox 10" id="10"/>
          <p:cNvSpPr txBox="true"/>
          <p:nvPr/>
        </p:nvSpPr>
        <p:spPr>
          <a:xfrm rot="0">
            <a:off x="488374" y="5010150"/>
            <a:ext cx="17311252" cy="4641850"/>
          </a:xfrm>
          <a:prstGeom prst="rect">
            <a:avLst/>
          </a:prstGeom>
        </p:spPr>
        <p:txBody>
          <a:bodyPr anchor="t" rtlCol="false" tIns="0" lIns="0" bIns="0" rIns="0">
            <a:spAutoFit/>
          </a:bodyPr>
          <a:lstStyle/>
          <a:p>
            <a:pPr algn="just">
              <a:lnSpc>
                <a:spcPts val="6199"/>
              </a:lnSpc>
            </a:pPr>
            <a:r>
              <a:rPr lang="en-US" sz="3999">
                <a:solidFill>
                  <a:srgbClr val="000000"/>
                </a:solidFill>
                <a:latin typeface="Open Sans"/>
                <a:ea typeface="Open Sans"/>
                <a:cs typeface="Open Sans"/>
                <a:sym typeface="Open Sans"/>
              </a:rPr>
              <a:t>LightGBM phát triển tree dựa trên leaf-wise, trong khi hầu hết các boosting tool khác (kể cả xgboost) dựa trên level (depth)-wise. Leaf-wise lựa chọn nút để phát triển cây dựa trên tối ưu toàn bộ tree, trong khi level-wise tối ưu trên nhánh đang xét.</a:t>
            </a:r>
          </a:p>
          <a:p>
            <a:pPr algn="just" marL="0" indent="0" lvl="0">
              <a:lnSpc>
                <a:spcPts val="6199"/>
              </a:lnSpc>
            </a:pPr>
            <a:r>
              <a:rPr lang="en-US" sz="3999">
                <a:solidFill>
                  <a:srgbClr val="000000"/>
                </a:solidFill>
                <a:latin typeface="Open Sans"/>
                <a:ea typeface="Open Sans"/>
                <a:cs typeface="Open Sans"/>
                <a:sym typeface="Open Sans"/>
              </a:rPr>
              <a:t>=&gt; Do đó, với số node nhỏ, các tree xây dựng từ leaf-wise thường out-perform level-wise.</a:t>
            </a:r>
          </a:p>
        </p:txBody>
      </p:sp>
      <p:sp>
        <p:nvSpPr>
          <p:cNvPr name="TextBox 11" id="11"/>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8</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7368147" cy="1543194"/>
            <a:chOff x="0" y="0"/>
            <a:chExt cx="4574327" cy="406438"/>
          </a:xfrm>
        </p:grpSpPr>
        <p:sp>
          <p:nvSpPr>
            <p:cNvPr name="Freeform 3" id="3"/>
            <p:cNvSpPr/>
            <p:nvPr/>
          </p:nvSpPr>
          <p:spPr>
            <a:xfrm flipH="false" flipV="false" rot="0">
              <a:off x="0" y="0"/>
              <a:ext cx="4574327" cy="406438"/>
            </a:xfrm>
            <a:custGeom>
              <a:avLst/>
              <a:gdLst/>
              <a:ahLst/>
              <a:cxnLst/>
              <a:rect r="r" b="b" t="t" l="l"/>
              <a:pathLst>
                <a:path h="406438" w="4574327">
                  <a:moveTo>
                    <a:pt x="0" y="0"/>
                  </a:moveTo>
                  <a:lnTo>
                    <a:pt x="4574327" y="0"/>
                  </a:lnTo>
                  <a:lnTo>
                    <a:pt x="4574327" y="406438"/>
                  </a:lnTo>
                  <a:lnTo>
                    <a:pt x="0" y="406438"/>
                  </a:lnTo>
                  <a:close/>
                </a:path>
              </a:pathLst>
            </a:custGeom>
            <a:solidFill>
              <a:srgbClr val="0345E4"/>
            </a:solidFill>
          </p:spPr>
        </p:sp>
        <p:sp>
          <p:nvSpPr>
            <p:cNvPr name="TextBox 4" id="4"/>
            <p:cNvSpPr txBox="true"/>
            <p:nvPr/>
          </p:nvSpPr>
          <p:spPr>
            <a:xfrm>
              <a:off x="0" y="-38100"/>
              <a:ext cx="4574327" cy="44453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054501" y="6542385"/>
            <a:ext cx="3744615" cy="37446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446630"/>
            <a:ext cx="3983571" cy="2932791"/>
            <a:chOff x="0" y="0"/>
            <a:chExt cx="812214" cy="597969"/>
          </a:xfrm>
        </p:grpSpPr>
        <p:sp>
          <p:nvSpPr>
            <p:cNvPr name="Freeform 9" id="9"/>
            <p:cNvSpPr/>
            <p:nvPr/>
          </p:nvSpPr>
          <p:spPr>
            <a:xfrm flipH="false" flipV="false" rot="0">
              <a:off x="0" y="0"/>
              <a:ext cx="812214" cy="597969"/>
            </a:xfrm>
            <a:custGeom>
              <a:avLst/>
              <a:gdLst/>
              <a:ahLst/>
              <a:cxnLst/>
              <a:rect r="r" b="b" t="t" l="l"/>
              <a:pathLst>
                <a:path h="597969" w="812214">
                  <a:moveTo>
                    <a:pt x="99117" y="0"/>
                  </a:moveTo>
                  <a:lnTo>
                    <a:pt x="713097" y="0"/>
                  </a:lnTo>
                  <a:cubicBezTo>
                    <a:pt x="739385" y="0"/>
                    <a:pt x="764595" y="10443"/>
                    <a:pt x="783183" y="29031"/>
                  </a:cubicBezTo>
                  <a:cubicBezTo>
                    <a:pt x="801771" y="47619"/>
                    <a:pt x="812214" y="72829"/>
                    <a:pt x="812214" y="99117"/>
                  </a:cubicBezTo>
                  <a:lnTo>
                    <a:pt x="812214" y="498853"/>
                  </a:lnTo>
                  <a:cubicBezTo>
                    <a:pt x="812214" y="525140"/>
                    <a:pt x="801771" y="550351"/>
                    <a:pt x="783183" y="568939"/>
                  </a:cubicBezTo>
                  <a:cubicBezTo>
                    <a:pt x="764595" y="587527"/>
                    <a:pt x="739385" y="597969"/>
                    <a:pt x="713097" y="597969"/>
                  </a:cubicBezTo>
                  <a:lnTo>
                    <a:pt x="99117" y="597969"/>
                  </a:lnTo>
                  <a:cubicBezTo>
                    <a:pt x="72829" y="597969"/>
                    <a:pt x="47619" y="587527"/>
                    <a:pt x="29031" y="568939"/>
                  </a:cubicBezTo>
                  <a:cubicBezTo>
                    <a:pt x="10443" y="550351"/>
                    <a:pt x="0" y="525140"/>
                    <a:pt x="0" y="498853"/>
                  </a:cubicBezTo>
                  <a:lnTo>
                    <a:pt x="0" y="99117"/>
                  </a:lnTo>
                  <a:cubicBezTo>
                    <a:pt x="0" y="72829"/>
                    <a:pt x="10443" y="47619"/>
                    <a:pt x="29031" y="29031"/>
                  </a:cubicBezTo>
                  <a:cubicBezTo>
                    <a:pt x="47619" y="10443"/>
                    <a:pt x="72829" y="0"/>
                    <a:pt x="99117" y="0"/>
                  </a:cubicBezTo>
                  <a:close/>
                </a:path>
              </a:pathLst>
            </a:custGeom>
            <a:solidFill>
              <a:srgbClr val="E8ECEC"/>
            </a:solidFill>
          </p:spPr>
        </p:sp>
        <p:sp>
          <p:nvSpPr>
            <p:cNvPr name="TextBox 10" id="10"/>
            <p:cNvSpPr txBox="true"/>
            <p:nvPr/>
          </p:nvSpPr>
          <p:spPr>
            <a:xfrm>
              <a:off x="0" y="-38100"/>
              <a:ext cx="812214" cy="63606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933900" y="3446630"/>
            <a:ext cx="3983571" cy="2932791"/>
            <a:chOff x="0" y="0"/>
            <a:chExt cx="812214" cy="597969"/>
          </a:xfrm>
        </p:grpSpPr>
        <p:sp>
          <p:nvSpPr>
            <p:cNvPr name="Freeform 12" id="12"/>
            <p:cNvSpPr/>
            <p:nvPr/>
          </p:nvSpPr>
          <p:spPr>
            <a:xfrm flipH="false" flipV="false" rot="0">
              <a:off x="0" y="0"/>
              <a:ext cx="812214" cy="597969"/>
            </a:xfrm>
            <a:custGeom>
              <a:avLst/>
              <a:gdLst/>
              <a:ahLst/>
              <a:cxnLst/>
              <a:rect r="r" b="b" t="t" l="l"/>
              <a:pathLst>
                <a:path h="597969" w="812214">
                  <a:moveTo>
                    <a:pt x="99117" y="0"/>
                  </a:moveTo>
                  <a:lnTo>
                    <a:pt x="713097" y="0"/>
                  </a:lnTo>
                  <a:cubicBezTo>
                    <a:pt x="739385" y="0"/>
                    <a:pt x="764595" y="10443"/>
                    <a:pt x="783183" y="29031"/>
                  </a:cubicBezTo>
                  <a:cubicBezTo>
                    <a:pt x="801771" y="47619"/>
                    <a:pt x="812214" y="72829"/>
                    <a:pt x="812214" y="99117"/>
                  </a:cubicBezTo>
                  <a:lnTo>
                    <a:pt x="812214" y="498853"/>
                  </a:lnTo>
                  <a:cubicBezTo>
                    <a:pt x="812214" y="525140"/>
                    <a:pt x="801771" y="550351"/>
                    <a:pt x="783183" y="568939"/>
                  </a:cubicBezTo>
                  <a:cubicBezTo>
                    <a:pt x="764595" y="587527"/>
                    <a:pt x="739385" y="597969"/>
                    <a:pt x="713097" y="597969"/>
                  </a:cubicBezTo>
                  <a:lnTo>
                    <a:pt x="99117" y="597969"/>
                  </a:lnTo>
                  <a:cubicBezTo>
                    <a:pt x="72829" y="597969"/>
                    <a:pt x="47619" y="587527"/>
                    <a:pt x="29031" y="568939"/>
                  </a:cubicBezTo>
                  <a:cubicBezTo>
                    <a:pt x="10443" y="550351"/>
                    <a:pt x="0" y="525140"/>
                    <a:pt x="0" y="498853"/>
                  </a:cubicBezTo>
                  <a:lnTo>
                    <a:pt x="0" y="99117"/>
                  </a:lnTo>
                  <a:cubicBezTo>
                    <a:pt x="0" y="72829"/>
                    <a:pt x="10443" y="47619"/>
                    <a:pt x="29031" y="29031"/>
                  </a:cubicBezTo>
                  <a:cubicBezTo>
                    <a:pt x="47619" y="10443"/>
                    <a:pt x="72829" y="0"/>
                    <a:pt x="99117" y="0"/>
                  </a:cubicBezTo>
                  <a:close/>
                </a:path>
              </a:pathLst>
            </a:custGeom>
            <a:solidFill>
              <a:srgbClr val="E8ECEC"/>
            </a:solidFill>
          </p:spPr>
        </p:sp>
        <p:sp>
          <p:nvSpPr>
            <p:cNvPr name="TextBox 13" id="13"/>
            <p:cNvSpPr txBox="true"/>
            <p:nvPr/>
          </p:nvSpPr>
          <p:spPr>
            <a:xfrm>
              <a:off x="0" y="-38100"/>
              <a:ext cx="812214" cy="63606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3428887" y="3446630"/>
            <a:ext cx="3983571" cy="2932791"/>
            <a:chOff x="0" y="0"/>
            <a:chExt cx="812214" cy="597969"/>
          </a:xfrm>
        </p:grpSpPr>
        <p:sp>
          <p:nvSpPr>
            <p:cNvPr name="Freeform 15" id="15"/>
            <p:cNvSpPr/>
            <p:nvPr/>
          </p:nvSpPr>
          <p:spPr>
            <a:xfrm flipH="false" flipV="false" rot="0">
              <a:off x="0" y="0"/>
              <a:ext cx="812214" cy="597969"/>
            </a:xfrm>
            <a:custGeom>
              <a:avLst/>
              <a:gdLst/>
              <a:ahLst/>
              <a:cxnLst/>
              <a:rect r="r" b="b" t="t" l="l"/>
              <a:pathLst>
                <a:path h="597969" w="812214">
                  <a:moveTo>
                    <a:pt x="99117" y="0"/>
                  </a:moveTo>
                  <a:lnTo>
                    <a:pt x="713097" y="0"/>
                  </a:lnTo>
                  <a:cubicBezTo>
                    <a:pt x="739385" y="0"/>
                    <a:pt x="764595" y="10443"/>
                    <a:pt x="783183" y="29031"/>
                  </a:cubicBezTo>
                  <a:cubicBezTo>
                    <a:pt x="801771" y="47619"/>
                    <a:pt x="812214" y="72829"/>
                    <a:pt x="812214" y="99117"/>
                  </a:cubicBezTo>
                  <a:lnTo>
                    <a:pt x="812214" y="498853"/>
                  </a:lnTo>
                  <a:cubicBezTo>
                    <a:pt x="812214" y="525140"/>
                    <a:pt x="801771" y="550351"/>
                    <a:pt x="783183" y="568939"/>
                  </a:cubicBezTo>
                  <a:cubicBezTo>
                    <a:pt x="764595" y="587527"/>
                    <a:pt x="739385" y="597969"/>
                    <a:pt x="713097" y="597969"/>
                  </a:cubicBezTo>
                  <a:lnTo>
                    <a:pt x="99117" y="597969"/>
                  </a:lnTo>
                  <a:cubicBezTo>
                    <a:pt x="72829" y="597969"/>
                    <a:pt x="47619" y="587527"/>
                    <a:pt x="29031" y="568939"/>
                  </a:cubicBezTo>
                  <a:cubicBezTo>
                    <a:pt x="10443" y="550351"/>
                    <a:pt x="0" y="525140"/>
                    <a:pt x="0" y="498853"/>
                  </a:cubicBezTo>
                  <a:lnTo>
                    <a:pt x="0" y="99117"/>
                  </a:lnTo>
                  <a:cubicBezTo>
                    <a:pt x="0" y="72829"/>
                    <a:pt x="10443" y="47619"/>
                    <a:pt x="29031" y="29031"/>
                  </a:cubicBezTo>
                  <a:cubicBezTo>
                    <a:pt x="47619" y="10443"/>
                    <a:pt x="72829" y="0"/>
                    <a:pt x="99117" y="0"/>
                  </a:cubicBezTo>
                  <a:close/>
                </a:path>
              </a:pathLst>
            </a:custGeom>
            <a:solidFill>
              <a:srgbClr val="E8ECEC"/>
            </a:solidFill>
          </p:spPr>
        </p:sp>
        <p:sp>
          <p:nvSpPr>
            <p:cNvPr name="TextBox 16" id="16"/>
            <p:cNvSpPr txBox="true"/>
            <p:nvPr/>
          </p:nvSpPr>
          <p:spPr>
            <a:xfrm>
              <a:off x="0" y="-38100"/>
              <a:ext cx="812214" cy="636069"/>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919853" y="296934"/>
            <a:ext cx="10769833" cy="925464"/>
          </a:xfrm>
          <a:prstGeom prst="rect">
            <a:avLst/>
          </a:prstGeom>
        </p:spPr>
        <p:txBody>
          <a:bodyPr anchor="t" rtlCol="false" tIns="0" lIns="0" bIns="0" rIns="0">
            <a:spAutoFit/>
          </a:bodyPr>
          <a:lstStyle/>
          <a:p>
            <a:pPr algn="l">
              <a:lnSpc>
                <a:spcPts val="6999"/>
              </a:lnSpc>
            </a:pPr>
            <a:r>
              <a:rPr lang="en-US" b="true" sz="4999" spc="99">
                <a:solidFill>
                  <a:srgbClr val="FFFFFF"/>
                </a:solidFill>
                <a:latin typeface="Helvetica World Bold"/>
                <a:ea typeface="Helvetica World Bold"/>
                <a:cs typeface="Helvetica World Bold"/>
                <a:sym typeface="Helvetica World Bold"/>
              </a:rPr>
              <a:t>ENSEMBLE LEARNING </a:t>
            </a:r>
          </a:p>
        </p:txBody>
      </p:sp>
      <p:sp>
        <p:nvSpPr>
          <p:cNvPr name="TextBox 18" id="18"/>
          <p:cNvSpPr txBox="true"/>
          <p:nvPr/>
        </p:nvSpPr>
        <p:spPr>
          <a:xfrm rot="0">
            <a:off x="1924274" y="4507399"/>
            <a:ext cx="2192424" cy="725526"/>
          </a:xfrm>
          <a:prstGeom prst="rect">
            <a:avLst/>
          </a:prstGeom>
        </p:spPr>
        <p:txBody>
          <a:bodyPr anchor="t" rtlCol="false" tIns="0" lIns="0" bIns="0" rIns="0">
            <a:spAutoFit/>
          </a:bodyPr>
          <a:lstStyle/>
          <a:p>
            <a:pPr algn="ctr">
              <a:lnSpc>
                <a:spcPts val="5425"/>
              </a:lnSpc>
              <a:spcBef>
                <a:spcPct val="0"/>
              </a:spcBef>
            </a:pPr>
            <a:r>
              <a:rPr lang="en-US" b="true" sz="3875">
                <a:solidFill>
                  <a:srgbClr val="000000"/>
                </a:solidFill>
                <a:latin typeface="Helvetica World Bold"/>
                <a:ea typeface="Helvetica World Bold"/>
                <a:cs typeface="Helvetica World Bold"/>
                <a:sym typeface="Helvetica World Bold"/>
              </a:rPr>
              <a:t>CatBoost</a:t>
            </a:r>
          </a:p>
        </p:txBody>
      </p:sp>
      <p:sp>
        <p:nvSpPr>
          <p:cNvPr name="TextBox 19" id="19"/>
          <p:cNvSpPr txBox="true"/>
          <p:nvPr/>
        </p:nvSpPr>
        <p:spPr>
          <a:xfrm rot="0">
            <a:off x="5714163" y="4195685"/>
            <a:ext cx="517846" cy="1291804"/>
          </a:xfrm>
          <a:prstGeom prst="rect">
            <a:avLst/>
          </a:prstGeom>
        </p:spPr>
        <p:txBody>
          <a:bodyPr anchor="t" rtlCol="false" tIns="0" lIns="0" bIns="0" rIns="0">
            <a:spAutoFit/>
          </a:bodyPr>
          <a:lstStyle/>
          <a:p>
            <a:pPr algn="ctr">
              <a:lnSpc>
                <a:spcPts val="9742"/>
              </a:lnSpc>
              <a:spcBef>
                <a:spcPct val="0"/>
              </a:spcBef>
            </a:pPr>
            <a:r>
              <a:rPr lang="en-US" b="true" sz="6958">
                <a:solidFill>
                  <a:srgbClr val="000000"/>
                </a:solidFill>
                <a:latin typeface="Helvetica World Bold"/>
                <a:ea typeface="Helvetica World Bold"/>
                <a:cs typeface="Helvetica World Bold"/>
                <a:sym typeface="Helvetica World Bold"/>
              </a:rPr>
              <a:t>+</a:t>
            </a:r>
          </a:p>
        </p:txBody>
      </p:sp>
      <p:sp>
        <p:nvSpPr>
          <p:cNvPr name="TextBox 20" id="20"/>
          <p:cNvSpPr txBox="true"/>
          <p:nvPr/>
        </p:nvSpPr>
        <p:spPr>
          <a:xfrm rot="0">
            <a:off x="11990030" y="4195685"/>
            <a:ext cx="517846" cy="1291804"/>
          </a:xfrm>
          <a:prstGeom prst="rect">
            <a:avLst/>
          </a:prstGeom>
        </p:spPr>
        <p:txBody>
          <a:bodyPr anchor="t" rtlCol="false" tIns="0" lIns="0" bIns="0" rIns="0">
            <a:spAutoFit/>
          </a:bodyPr>
          <a:lstStyle/>
          <a:p>
            <a:pPr algn="ctr">
              <a:lnSpc>
                <a:spcPts val="9742"/>
              </a:lnSpc>
              <a:spcBef>
                <a:spcPct val="0"/>
              </a:spcBef>
            </a:pPr>
            <a:r>
              <a:rPr lang="en-US" b="true" sz="6958">
                <a:solidFill>
                  <a:srgbClr val="000000"/>
                </a:solidFill>
                <a:latin typeface="Helvetica World Bold"/>
                <a:ea typeface="Helvetica World Bold"/>
                <a:cs typeface="Helvetica World Bold"/>
                <a:sym typeface="Helvetica World Bold"/>
              </a:rPr>
              <a:t>+</a:t>
            </a:r>
          </a:p>
        </p:txBody>
      </p:sp>
      <p:sp>
        <p:nvSpPr>
          <p:cNvPr name="TextBox 21" id="21"/>
          <p:cNvSpPr txBox="true"/>
          <p:nvPr/>
        </p:nvSpPr>
        <p:spPr>
          <a:xfrm rot="0">
            <a:off x="7128466" y="3961432"/>
            <a:ext cx="3594818" cy="1813731"/>
          </a:xfrm>
          <a:prstGeom prst="rect">
            <a:avLst/>
          </a:prstGeom>
        </p:spPr>
        <p:txBody>
          <a:bodyPr anchor="t" rtlCol="false" tIns="0" lIns="0" bIns="0" rIns="0">
            <a:spAutoFit/>
          </a:bodyPr>
          <a:lstStyle/>
          <a:p>
            <a:pPr algn="ctr">
              <a:lnSpc>
                <a:spcPts val="4492"/>
              </a:lnSpc>
            </a:pPr>
            <a:r>
              <a:rPr lang="en-US" sz="3208" b="true">
                <a:solidFill>
                  <a:srgbClr val="000000"/>
                </a:solidFill>
                <a:latin typeface="Helvetica World Bold"/>
                <a:ea typeface="Helvetica World Bold"/>
                <a:cs typeface="Helvetica World Bold"/>
                <a:sym typeface="Helvetica World Bold"/>
              </a:rPr>
              <a:t>LGB </a:t>
            </a:r>
          </a:p>
          <a:p>
            <a:pPr algn="l">
              <a:lnSpc>
                <a:spcPts val="4492"/>
              </a:lnSpc>
              <a:spcBef>
                <a:spcPct val="0"/>
              </a:spcBef>
            </a:pPr>
            <a:r>
              <a:rPr lang="en-US" b="true" sz="3208">
                <a:solidFill>
                  <a:srgbClr val="000000"/>
                </a:solidFill>
                <a:latin typeface="Helvetica World Bold"/>
                <a:ea typeface="Helvetica World Bold"/>
                <a:cs typeface="Helvetica World Bold"/>
                <a:sym typeface="Helvetica World Bold"/>
              </a:rPr>
              <a:t>với boosting_type là "gbdt"</a:t>
            </a:r>
          </a:p>
        </p:txBody>
      </p:sp>
      <p:sp>
        <p:nvSpPr>
          <p:cNvPr name="TextBox 22" id="22"/>
          <p:cNvSpPr txBox="true"/>
          <p:nvPr/>
        </p:nvSpPr>
        <p:spPr>
          <a:xfrm rot="0">
            <a:off x="13735053" y="3961432"/>
            <a:ext cx="3594818" cy="1836511"/>
          </a:xfrm>
          <a:prstGeom prst="rect">
            <a:avLst/>
          </a:prstGeom>
        </p:spPr>
        <p:txBody>
          <a:bodyPr anchor="t" rtlCol="false" tIns="0" lIns="0" bIns="0" rIns="0">
            <a:spAutoFit/>
          </a:bodyPr>
          <a:lstStyle/>
          <a:p>
            <a:pPr algn="ctr">
              <a:lnSpc>
                <a:spcPts val="4492"/>
              </a:lnSpc>
            </a:pPr>
            <a:r>
              <a:rPr lang="en-US" sz="3208" b="true">
                <a:solidFill>
                  <a:srgbClr val="000000"/>
                </a:solidFill>
                <a:latin typeface="Helvetica World Bold"/>
                <a:ea typeface="Helvetica World Bold"/>
                <a:cs typeface="Helvetica World Bold"/>
                <a:sym typeface="Helvetica World Bold"/>
              </a:rPr>
              <a:t>LGB </a:t>
            </a:r>
          </a:p>
          <a:p>
            <a:pPr algn="l">
              <a:lnSpc>
                <a:spcPts val="4492"/>
              </a:lnSpc>
              <a:spcBef>
                <a:spcPct val="0"/>
              </a:spcBef>
            </a:pPr>
            <a:r>
              <a:rPr lang="en-US" b="true" sz="3208">
                <a:solidFill>
                  <a:srgbClr val="000000"/>
                </a:solidFill>
                <a:latin typeface="Helvetica World Bold"/>
                <a:ea typeface="Helvetica World Bold"/>
                <a:cs typeface="Helvetica World Bold"/>
                <a:sym typeface="Helvetica World Bold"/>
              </a:rPr>
              <a:t>với boosting_type là "goss"</a:t>
            </a:r>
          </a:p>
        </p:txBody>
      </p:sp>
      <p:sp>
        <p:nvSpPr>
          <p:cNvPr name="TextBox 23" id="23"/>
          <p:cNvSpPr txBox="true"/>
          <p:nvPr/>
        </p:nvSpPr>
        <p:spPr>
          <a:xfrm rot="0">
            <a:off x="17554129" y="9020175"/>
            <a:ext cx="219521"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9</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7368147" cy="1543194"/>
            <a:chOff x="0" y="0"/>
            <a:chExt cx="4574327" cy="406438"/>
          </a:xfrm>
        </p:grpSpPr>
        <p:sp>
          <p:nvSpPr>
            <p:cNvPr name="Freeform 3" id="3"/>
            <p:cNvSpPr/>
            <p:nvPr/>
          </p:nvSpPr>
          <p:spPr>
            <a:xfrm flipH="false" flipV="false" rot="0">
              <a:off x="0" y="0"/>
              <a:ext cx="4574327" cy="406438"/>
            </a:xfrm>
            <a:custGeom>
              <a:avLst/>
              <a:gdLst/>
              <a:ahLst/>
              <a:cxnLst/>
              <a:rect r="r" b="b" t="t" l="l"/>
              <a:pathLst>
                <a:path h="406438" w="4574327">
                  <a:moveTo>
                    <a:pt x="0" y="0"/>
                  </a:moveTo>
                  <a:lnTo>
                    <a:pt x="4574327" y="0"/>
                  </a:lnTo>
                  <a:lnTo>
                    <a:pt x="4574327" y="406438"/>
                  </a:lnTo>
                  <a:lnTo>
                    <a:pt x="0" y="406438"/>
                  </a:lnTo>
                  <a:close/>
                </a:path>
              </a:pathLst>
            </a:custGeom>
            <a:solidFill>
              <a:srgbClr val="0345E4"/>
            </a:solidFill>
          </p:spPr>
        </p:sp>
        <p:sp>
          <p:nvSpPr>
            <p:cNvPr name="TextBox 4" id="4"/>
            <p:cNvSpPr txBox="true"/>
            <p:nvPr/>
          </p:nvSpPr>
          <p:spPr>
            <a:xfrm>
              <a:off x="0" y="-38100"/>
              <a:ext cx="4574327" cy="44453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6415693" y="7135800"/>
            <a:ext cx="3744615" cy="3744615"/>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2118839"/>
            <a:ext cx="7083537" cy="7206136"/>
          </a:xfrm>
          <a:custGeom>
            <a:avLst/>
            <a:gdLst/>
            <a:ahLst/>
            <a:cxnLst/>
            <a:rect r="r" b="b" t="t" l="l"/>
            <a:pathLst>
              <a:path h="7206136" w="7083537">
                <a:moveTo>
                  <a:pt x="0" y="0"/>
                </a:moveTo>
                <a:lnTo>
                  <a:pt x="7083537" y="0"/>
                </a:lnTo>
                <a:lnTo>
                  <a:pt x="7083537" y="7206136"/>
                </a:lnTo>
                <a:lnTo>
                  <a:pt x="0" y="7206136"/>
                </a:lnTo>
                <a:lnTo>
                  <a:pt x="0" y="0"/>
                </a:lnTo>
                <a:close/>
              </a:path>
            </a:pathLst>
          </a:custGeom>
          <a:blipFill>
            <a:blip r:embed="rId3"/>
            <a:stretch>
              <a:fillRect l="0" t="0" r="0" b="0"/>
            </a:stretch>
          </a:blipFill>
        </p:spPr>
      </p:sp>
      <p:sp>
        <p:nvSpPr>
          <p:cNvPr name="TextBox 9" id="9"/>
          <p:cNvSpPr txBox="true"/>
          <p:nvPr/>
        </p:nvSpPr>
        <p:spPr>
          <a:xfrm rot="0">
            <a:off x="919853" y="296934"/>
            <a:ext cx="10769833" cy="925464"/>
          </a:xfrm>
          <a:prstGeom prst="rect">
            <a:avLst/>
          </a:prstGeom>
        </p:spPr>
        <p:txBody>
          <a:bodyPr anchor="t" rtlCol="false" tIns="0" lIns="0" bIns="0" rIns="0">
            <a:spAutoFit/>
          </a:bodyPr>
          <a:lstStyle/>
          <a:p>
            <a:pPr algn="l">
              <a:lnSpc>
                <a:spcPts val="6999"/>
              </a:lnSpc>
            </a:pPr>
            <a:r>
              <a:rPr lang="en-US" b="true" sz="4999" spc="99">
                <a:solidFill>
                  <a:srgbClr val="FFFFFF"/>
                </a:solidFill>
                <a:latin typeface="Helvetica World Bold"/>
                <a:ea typeface="Helvetica World Bold"/>
                <a:cs typeface="Helvetica World Bold"/>
                <a:sym typeface="Helvetica World Bold"/>
              </a:rPr>
              <a:t>ENSEMBLE LEARNING </a:t>
            </a:r>
          </a:p>
        </p:txBody>
      </p:sp>
      <p:sp>
        <p:nvSpPr>
          <p:cNvPr name="TextBox 10" id="10"/>
          <p:cNvSpPr txBox="true"/>
          <p:nvPr/>
        </p:nvSpPr>
        <p:spPr>
          <a:xfrm rot="0">
            <a:off x="17444368" y="9020175"/>
            <a:ext cx="439043"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10</a:t>
            </a:r>
          </a:p>
        </p:txBody>
      </p:sp>
      <p:sp>
        <p:nvSpPr>
          <p:cNvPr name="TextBox 11" id="11"/>
          <p:cNvSpPr txBox="true"/>
          <p:nvPr/>
        </p:nvSpPr>
        <p:spPr>
          <a:xfrm rot="0">
            <a:off x="9144000" y="3749582"/>
            <a:ext cx="7794816" cy="3386344"/>
          </a:xfrm>
          <a:prstGeom prst="rect">
            <a:avLst/>
          </a:prstGeom>
        </p:spPr>
        <p:txBody>
          <a:bodyPr anchor="t" rtlCol="false" tIns="0" lIns="0" bIns="0" rIns="0">
            <a:spAutoFit/>
          </a:bodyPr>
          <a:lstStyle/>
          <a:p>
            <a:pPr algn="just">
              <a:lnSpc>
                <a:spcPts val="5464"/>
              </a:lnSpc>
            </a:pPr>
            <a:r>
              <a:rPr lang="en-US" sz="3525" b="true">
                <a:solidFill>
                  <a:srgbClr val="000000"/>
                </a:solidFill>
                <a:latin typeface="Open Sans Bold"/>
                <a:ea typeface="Open Sans Bold"/>
                <a:cs typeface="Open Sans Bold"/>
                <a:sym typeface="Open Sans Bold"/>
              </a:rPr>
              <a:t>Ensemble learning:</a:t>
            </a:r>
          </a:p>
          <a:p>
            <a:pPr algn="just" marL="761162" indent="-380581" lvl="1">
              <a:lnSpc>
                <a:spcPts val="5464"/>
              </a:lnSpc>
              <a:buFont typeface="Arial"/>
              <a:buChar char="•"/>
            </a:pPr>
            <a:r>
              <a:rPr lang="en-US" sz="3525">
                <a:solidFill>
                  <a:srgbClr val="000000"/>
                </a:solidFill>
                <a:latin typeface="Open Sans"/>
                <a:ea typeface="Open Sans"/>
                <a:cs typeface="Open Sans"/>
                <a:sym typeface="Open Sans"/>
              </a:rPr>
              <a:t>Khả năng tổng quát hóa</a:t>
            </a:r>
          </a:p>
          <a:p>
            <a:pPr algn="just" marL="761162" indent="-380581" lvl="1">
              <a:lnSpc>
                <a:spcPts val="5464"/>
              </a:lnSpc>
              <a:buFont typeface="Arial"/>
              <a:buChar char="•"/>
            </a:pPr>
            <a:r>
              <a:rPr lang="en-US" sz="3525">
                <a:solidFill>
                  <a:srgbClr val="000000"/>
                </a:solidFill>
                <a:latin typeface="Open Sans"/>
                <a:ea typeface="Open Sans"/>
                <a:cs typeface="Open Sans"/>
                <a:sym typeface="Open Sans"/>
              </a:rPr>
              <a:t>Bù đắp việc dự đoán lỗi của mỗi model với nhau</a:t>
            </a:r>
          </a:p>
          <a:p>
            <a:pPr algn="just">
              <a:lnSpc>
                <a:spcPts val="5464"/>
              </a:lnSpc>
            </a:pPr>
            <a:r>
              <a:rPr lang="en-US" sz="3525">
                <a:solidFill>
                  <a:srgbClr val="000000"/>
                </a:solidFill>
                <a:latin typeface="Open Sans"/>
                <a:ea typeface="Open Sans"/>
                <a:cs typeface="Open Sans"/>
                <a:sym typeface="Open Sans"/>
              </a:rPr>
              <a:t>=&gt; Hiệu suất và tính ổn định cao hơn.</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5324660" cy="10287000"/>
            <a:chOff x="0" y="0"/>
            <a:chExt cx="1402380" cy="2709333"/>
          </a:xfrm>
        </p:grpSpPr>
        <p:sp>
          <p:nvSpPr>
            <p:cNvPr name="Freeform 3" id="3"/>
            <p:cNvSpPr/>
            <p:nvPr/>
          </p:nvSpPr>
          <p:spPr>
            <a:xfrm flipH="false" flipV="false" rot="0">
              <a:off x="0" y="0"/>
              <a:ext cx="1402380" cy="2709333"/>
            </a:xfrm>
            <a:custGeom>
              <a:avLst/>
              <a:gdLst/>
              <a:ahLst/>
              <a:cxnLst/>
              <a:rect r="r" b="b" t="t" l="l"/>
              <a:pathLst>
                <a:path h="2709333" w="1402380">
                  <a:moveTo>
                    <a:pt x="0" y="0"/>
                  </a:moveTo>
                  <a:lnTo>
                    <a:pt x="1402380" y="0"/>
                  </a:lnTo>
                  <a:lnTo>
                    <a:pt x="1402380" y="2709333"/>
                  </a:lnTo>
                  <a:lnTo>
                    <a:pt x="0" y="2709333"/>
                  </a:lnTo>
                  <a:close/>
                </a:path>
              </a:pathLst>
            </a:custGeom>
            <a:solidFill>
              <a:srgbClr val="0345E4"/>
            </a:solidFill>
          </p:spPr>
        </p:sp>
        <p:sp>
          <p:nvSpPr>
            <p:cNvPr name="TextBox 4" id="4"/>
            <p:cNvSpPr txBox="true"/>
            <p:nvPr/>
          </p:nvSpPr>
          <p:spPr>
            <a:xfrm>
              <a:off x="0" y="-38100"/>
              <a:ext cx="1402380"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740861" y="6749958"/>
            <a:ext cx="4596322" cy="45963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5472638" y="1028700"/>
            <a:ext cx="1479329" cy="147932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6487576" y="1907947"/>
            <a:ext cx="771724" cy="7717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5324660" y="9048119"/>
            <a:ext cx="596043" cy="59604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7" id="17"/>
          <p:cNvSpPr/>
          <p:nvPr/>
        </p:nvSpPr>
        <p:spPr>
          <a:xfrm flipH="false" flipV="false" rot="0">
            <a:off x="6374274" y="4250067"/>
            <a:ext cx="4796538" cy="4999781"/>
          </a:xfrm>
          <a:custGeom>
            <a:avLst/>
            <a:gdLst/>
            <a:ahLst/>
            <a:cxnLst/>
            <a:rect r="r" b="b" t="t" l="l"/>
            <a:pathLst>
              <a:path h="4999781" w="4796538">
                <a:moveTo>
                  <a:pt x="0" y="0"/>
                </a:moveTo>
                <a:lnTo>
                  <a:pt x="4796538" y="0"/>
                </a:lnTo>
                <a:lnTo>
                  <a:pt x="4796538" y="4999781"/>
                </a:lnTo>
                <a:lnTo>
                  <a:pt x="0" y="4999781"/>
                </a:lnTo>
                <a:lnTo>
                  <a:pt x="0" y="0"/>
                </a:lnTo>
                <a:close/>
              </a:path>
            </a:pathLst>
          </a:custGeom>
          <a:blipFill>
            <a:blip r:embed="rId3"/>
            <a:stretch>
              <a:fillRect l="0" t="0" r="0" b="0"/>
            </a:stretch>
          </a:blipFill>
        </p:spPr>
      </p:sp>
      <p:sp>
        <p:nvSpPr>
          <p:cNvPr name="Freeform 18" id="18"/>
          <p:cNvSpPr/>
          <p:nvPr/>
        </p:nvSpPr>
        <p:spPr>
          <a:xfrm flipH="false" flipV="false" rot="0">
            <a:off x="12169195" y="4250067"/>
            <a:ext cx="4877835" cy="4999781"/>
          </a:xfrm>
          <a:custGeom>
            <a:avLst/>
            <a:gdLst/>
            <a:ahLst/>
            <a:cxnLst/>
            <a:rect r="r" b="b" t="t" l="l"/>
            <a:pathLst>
              <a:path h="4999781" w="4877835">
                <a:moveTo>
                  <a:pt x="0" y="0"/>
                </a:moveTo>
                <a:lnTo>
                  <a:pt x="4877835" y="0"/>
                </a:lnTo>
                <a:lnTo>
                  <a:pt x="4877835" y="4999781"/>
                </a:lnTo>
                <a:lnTo>
                  <a:pt x="0" y="4999781"/>
                </a:lnTo>
                <a:lnTo>
                  <a:pt x="0" y="0"/>
                </a:lnTo>
                <a:close/>
              </a:path>
            </a:pathLst>
          </a:custGeom>
          <a:blipFill>
            <a:blip r:embed="rId4"/>
            <a:stretch>
              <a:fillRect l="0" t="0" r="0" b="0"/>
            </a:stretch>
          </a:blipFill>
        </p:spPr>
      </p:sp>
      <p:sp>
        <p:nvSpPr>
          <p:cNvPr name="TextBox 19" id="19"/>
          <p:cNvSpPr txBox="true"/>
          <p:nvPr/>
        </p:nvSpPr>
        <p:spPr>
          <a:xfrm rot="0">
            <a:off x="755716" y="3196382"/>
            <a:ext cx="4568944" cy="2832053"/>
          </a:xfrm>
          <a:prstGeom prst="rect">
            <a:avLst/>
          </a:prstGeom>
        </p:spPr>
        <p:txBody>
          <a:bodyPr anchor="t" rtlCol="false" tIns="0" lIns="0" bIns="0" rIns="0">
            <a:spAutoFit/>
          </a:bodyPr>
          <a:lstStyle/>
          <a:p>
            <a:pPr algn="l">
              <a:lnSpc>
                <a:spcPts val="10499"/>
              </a:lnSpc>
            </a:pPr>
            <a:r>
              <a:rPr lang="en-US" b="true" sz="7499" spc="149">
                <a:solidFill>
                  <a:srgbClr val="FFFFFF"/>
                </a:solidFill>
                <a:latin typeface="Helvetica World Bold"/>
                <a:ea typeface="Helvetica World Bold"/>
                <a:cs typeface="Helvetica World Bold"/>
                <a:sym typeface="Helvetica World Bold"/>
              </a:rPr>
              <a:t>METRIC HACK</a:t>
            </a:r>
          </a:p>
        </p:txBody>
      </p:sp>
      <p:sp>
        <p:nvSpPr>
          <p:cNvPr name="TextBox 20" id="20"/>
          <p:cNvSpPr txBox="true"/>
          <p:nvPr/>
        </p:nvSpPr>
        <p:spPr>
          <a:xfrm rot="0">
            <a:off x="6189186" y="2315695"/>
            <a:ext cx="8418927" cy="1033212"/>
          </a:xfrm>
          <a:prstGeom prst="rect">
            <a:avLst/>
          </a:prstGeom>
        </p:spPr>
        <p:txBody>
          <a:bodyPr anchor="t" rtlCol="false" tIns="0" lIns="0" bIns="0" rIns="0">
            <a:spAutoFit/>
          </a:bodyPr>
          <a:lstStyle/>
          <a:p>
            <a:pPr algn="just" marL="588446" indent="-294223" lvl="1">
              <a:lnSpc>
                <a:spcPts val="4224"/>
              </a:lnSpc>
              <a:buFont typeface="Arial"/>
              <a:buChar char="•"/>
            </a:pPr>
            <a:r>
              <a:rPr lang="en-US" sz="2725">
                <a:solidFill>
                  <a:srgbClr val="000000"/>
                </a:solidFill>
                <a:latin typeface="Open Sans"/>
                <a:ea typeface="Open Sans"/>
                <a:cs typeface="Open Sans"/>
                <a:sym typeface="Open Sans"/>
              </a:rPr>
              <a:t>Các trường hợp được dự đoán score thấp hơn 0.05 sẽ được gán thành 0</a:t>
            </a:r>
          </a:p>
        </p:txBody>
      </p:sp>
      <p:sp>
        <p:nvSpPr>
          <p:cNvPr name="TextBox 21" id="21"/>
          <p:cNvSpPr txBox="true"/>
          <p:nvPr/>
        </p:nvSpPr>
        <p:spPr>
          <a:xfrm rot="0">
            <a:off x="8212581" y="3746474"/>
            <a:ext cx="1119923" cy="507400"/>
          </a:xfrm>
          <a:prstGeom prst="rect">
            <a:avLst/>
          </a:prstGeom>
        </p:spPr>
        <p:txBody>
          <a:bodyPr anchor="t" rtlCol="false" tIns="0" lIns="0" bIns="0" rIns="0">
            <a:spAutoFit/>
          </a:bodyPr>
          <a:lstStyle/>
          <a:p>
            <a:pPr algn="just">
              <a:lnSpc>
                <a:spcPts val="4224"/>
              </a:lnSpc>
            </a:pPr>
            <a:r>
              <a:rPr lang="en-US" sz="2725" b="true">
                <a:solidFill>
                  <a:srgbClr val="000000"/>
                </a:solidFill>
                <a:latin typeface="Open Sans Bold"/>
                <a:ea typeface="Open Sans Bold"/>
                <a:cs typeface="Open Sans Bold"/>
                <a:sym typeface="Open Sans Bold"/>
              </a:rPr>
              <a:t>Trước</a:t>
            </a:r>
          </a:p>
        </p:txBody>
      </p:sp>
      <p:sp>
        <p:nvSpPr>
          <p:cNvPr name="TextBox 22" id="22"/>
          <p:cNvSpPr txBox="true"/>
          <p:nvPr/>
        </p:nvSpPr>
        <p:spPr>
          <a:xfrm rot="0">
            <a:off x="7755090" y="9163050"/>
            <a:ext cx="2034905" cy="507400"/>
          </a:xfrm>
          <a:prstGeom prst="rect">
            <a:avLst/>
          </a:prstGeom>
        </p:spPr>
        <p:txBody>
          <a:bodyPr anchor="t" rtlCol="false" tIns="0" lIns="0" bIns="0" rIns="0">
            <a:spAutoFit/>
          </a:bodyPr>
          <a:lstStyle/>
          <a:p>
            <a:pPr algn="just">
              <a:lnSpc>
                <a:spcPts val="4224"/>
              </a:lnSpc>
            </a:pPr>
            <a:r>
              <a:rPr lang="en-US" sz="2725" b="true">
                <a:solidFill>
                  <a:srgbClr val="000000"/>
                </a:solidFill>
                <a:latin typeface="Open Sans Bold"/>
                <a:ea typeface="Open Sans Bold"/>
                <a:cs typeface="Open Sans Bold"/>
                <a:sym typeface="Open Sans Bold"/>
              </a:rPr>
              <a:t>Score: 0.515</a:t>
            </a:r>
          </a:p>
        </p:txBody>
      </p:sp>
      <p:sp>
        <p:nvSpPr>
          <p:cNvPr name="TextBox 23" id="23"/>
          <p:cNvSpPr txBox="true"/>
          <p:nvPr/>
        </p:nvSpPr>
        <p:spPr>
          <a:xfrm rot="0">
            <a:off x="13610582" y="9136762"/>
            <a:ext cx="2034905" cy="507400"/>
          </a:xfrm>
          <a:prstGeom prst="rect">
            <a:avLst/>
          </a:prstGeom>
        </p:spPr>
        <p:txBody>
          <a:bodyPr anchor="t" rtlCol="false" tIns="0" lIns="0" bIns="0" rIns="0">
            <a:spAutoFit/>
          </a:bodyPr>
          <a:lstStyle/>
          <a:p>
            <a:pPr algn="just">
              <a:lnSpc>
                <a:spcPts val="4224"/>
              </a:lnSpc>
            </a:pPr>
            <a:r>
              <a:rPr lang="en-US" sz="2725" b="true">
                <a:solidFill>
                  <a:srgbClr val="000000"/>
                </a:solidFill>
                <a:latin typeface="Open Sans Bold"/>
                <a:ea typeface="Open Sans Bold"/>
                <a:cs typeface="Open Sans Bold"/>
                <a:sym typeface="Open Sans Bold"/>
              </a:rPr>
              <a:t>Score: 0.519</a:t>
            </a:r>
          </a:p>
        </p:txBody>
      </p:sp>
      <p:sp>
        <p:nvSpPr>
          <p:cNvPr name="TextBox 24" id="24"/>
          <p:cNvSpPr txBox="true"/>
          <p:nvPr/>
        </p:nvSpPr>
        <p:spPr>
          <a:xfrm rot="0">
            <a:off x="6189186" y="857163"/>
            <a:ext cx="8418927" cy="1033212"/>
          </a:xfrm>
          <a:prstGeom prst="rect">
            <a:avLst/>
          </a:prstGeom>
        </p:spPr>
        <p:txBody>
          <a:bodyPr anchor="t" rtlCol="false" tIns="0" lIns="0" bIns="0" rIns="0">
            <a:spAutoFit/>
          </a:bodyPr>
          <a:lstStyle/>
          <a:p>
            <a:pPr algn="just" marL="588446" indent="-294223" lvl="1">
              <a:lnSpc>
                <a:spcPts val="4224"/>
              </a:lnSpc>
              <a:buFont typeface="Arial"/>
              <a:buChar char="•"/>
            </a:pPr>
            <a:r>
              <a:rPr lang="en-US" sz="2725">
                <a:solidFill>
                  <a:srgbClr val="000000"/>
                </a:solidFill>
                <a:latin typeface="Open Sans"/>
                <a:ea typeface="Open Sans"/>
                <a:cs typeface="Open Sans"/>
                <a:sym typeface="Open Sans"/>
              </a:rPr>
              <a:t>Mục tiêu: dự đoán được nhiều trường hợp nhãn 0 chính xác nhất.</a:t>
            </a:r>
          </a:p>
        </p:txBody>
      </p:sp>
      <p:sp>
        <p:nvSpPr>
          <p:cNvPr name="TextBox 25" id="25"/>
          <p:cNvSpPr txBox="true"/>
          <p:nvPr/>
        </p:nvSpPr>
        <p:spPr>
          <a:xfrm rot="0">
            <a:off x="14068073" y="3777407"/>
            <a:ext cx="1119923" cy="507400"/>
          </a:xfrm>
          <a:prstGeom prst="rect">
            <a:avLst/>
          </a:prstGeom>
        </p:spPr>
        <p:txBody>
          <a:bodyPr anchor="t" rtlCol="false" tIns="0" lIns="0" bIns="0" rIns="0">
            <a:spAutoFit/>
          </a:bodyPr>
          <a:lstStyle/>
          <a:p>
            <a:pPr algn="just">
              <a:lnSpc>
                <a:spcPts val="4224"/>
              </a:lnSpc>
            </a:pPr>
            <a:r>
              <a:rPr lang="en-US" sz="2725" b="true">
                <a:solidFill>
                  <a:srgbClr val="000000"/>
                </a:solidFill>
                <a:latin typeface="Open Sans Bold"/>
                <a:ea typeface="Open Sans Bold"/>
                <a:cs typeface="Open Sans Bold"/>
                <a:sym typeface="Open Sans Bold"/>
              </a:rPr>
              <a:t>Sau</a:t>
            </a:r>
          </a:p>
        </p:txBody>
      </p:sp>
      <p:sp>
        <p:nvSpPr>
          <p:cNvPr name="TextBox 26" id="26"/>
          <p:cNvSpPr txBox="true"/>
          <p:nvPr/>
        </p:nvSpPr>
        <p:spPr>
          <a:xfrm rot="0">
            <a:off x="17483812" y="9407225"/>
            <a:ext cx="439043"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11</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5324660" cy="10287000"/>
            <a:chOff x="0" y="0"/>
            <a:chExt cx="1402380" cy="2709333"/>
          </a:xfrm>
        </p:grpSpPr>
        <p:sp>
          <p:nvSpPr>
            <p:cNvPr name="Freeform 3" id="3"/>
            <p:cNvSpPr/>
            <p:nvPr/>
          </p:nvSpPr>
          <p:spPr>
            <a:xfrm flipH="false" flipV="false" rot="0">
              <a:off x="0" y="0"/>
              <a:ext cx="1402380" cy="2709333"/>
            </a:xfrm>
            <a:custGeom>
              <a:avLst/>
              <a:gdLst/>
              <a:ahLst/>
              <a:cxnLst/>
              <a:rect r="r" b="b" t="t" l="l"/>
              <a:pathLst>
                <a:path h="2709333" w="1402380">
                  <a:moveTo>
                    <a:pt x="0" y="0"/>
                  </a:moveTo>
                  <a:lnTo>
                    <a:pt x="1402380" y="0"/>
                  </a:lnTo>
                  <a:lnTo>
                    <a:pt x="1402380" y="2709333"/>
                  </a:lnTo>
                  <a:lnTo>
                    <a:pt x="0" y="2709333"/>
                  </a:lnTo>
                  <a:close/>
                </a:path>
              </a:pathLst>
            </a:custGeom>
            <a:solidFill>
              <a:srgbClr val="0345E4"/>
            </a:solidFill>
          </p:spPr>
        </p:sp>
        <p:sp>
          <p:nvSpPr>
            <p:cNvPr name="TextBox 4" id="4"/>
            <p:cNvSpPr txBox="true"/>
            <p:nvPr/>
          </p:nvSpPr>
          <p:spPr>
            <a:xfrm>
              <a:off x="0" y="-38100"/>
              <a:ext cx="1402380" cy="2747433"/>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5740861" y="6749958"/>
            <a:ext cx="4596322" cy="459632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5400000">
            <a:off x="15472638" y="526889"/>
            <a:ext cx="1479329" cy="1479329"/>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6487576" y="1406136"/>
            <a:ext cx="771724" cy="77172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5324660" y="9048119"/>
            <a:ext cx="596043" cy="59604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566037" y="4240259"/>
            <a:ext cx="4192586" cy="1149034"/>
          </a:xfrm>
          <a:prstGeom prst="rect">
            <a:avLst/>
          </a:prstGeom>
        </p:spPr>
        <p:txBody>
          <a:bodyPr anchor="t" rtlCol="false" tIns="0" lIns="0" bIns="0" rIns="0">
            <a:spAutoFit/>
          </a:bodyPr>
          <a:lstStyle/>
          <a:p>
            <a:pPr algn="l">
              <a:lnSpc>
                <a:spcPts val="8679"/>
              </a:lnSpc>
            </a:pPr>
            <a:r>
              <a:rPr lang="en-US" b="true" sz="6199" spc="123">
                <a:solidFill>
                  <a:srgbClr val="FFFFFF"/>
                </a:solidFill>
                <a:latin typeface="Helvetica World Bold"/>
                <a:ea typeface="Helvetica World Bold"/>
                <a:cs typeface="Helvetica World Bold"/>
                <a:sym typeface="Helvetica World Bold"/>
              </a:rPr>
              <a:t>KẾT LUẬN</a:t>
            </a:r>
          </a:p>
        </p:txBody>
      </p:sp>
      <p:sp>
        <p:nvSpPr>
          <p:cNvPr name="TextBox 18" id="18"/>
          <p:cNvSpPr txBox="true"/>
          <p:nvPr/>
        </p:nvSpPr>
        <p:spPr>
          <a:xfrm rot="0">
            <a:off x="6062466" y="1891918"/>
            <a:ext cx="11421346" cy="6630143"/>
          </a:xfrm>
          <a:prstGeom prst="rect">
            <a:avLst/>
          </a:prstGeom>
        </p:spPr>
        <p:txBody>
          <a:bodyPr anchor="t" rtlCol="false" tIns="0" lIns="0" bIns="0" rIns="0">
            <a:spAutoFit/>
          </a:bodyPr>
          <a:lstStyle/>
          <a:p>
            <a:pPr algn="just" marL="734059" indent="-367030" lvl="1">
              <a:lnSpc>
                <a:spcPts val="5269"/>
              </a:lnSpc>
              <a:buFont typeface="Arial"/>
              <a:buChar char="•"/>
            </a:pPr>
            <a:r>
              <a:rPr lang="en-US" sz="3399">
                <a:solidFill>
                  <a:srgbClr val="000000"/>
                </a:solidFill>
                <a:latin typeface="Open Sans"/>
                <a:ea typeface="Open Sans"/>
                <a:cs typeface="Open Sans"/>
                <a:sym typeface="Open Sans"/>
              </a:rPr>
              <a:t>Nhóm đã tham gia thành công cuộc thi đạt xếp hạng 134/3858 với điểm số 0.519 private score.</a:t>
            </a:r>
          </a:p>
          <a:p>
            <a:pPr algn="just">
              <a:lnSpc>
                <a:spcPts val="5269"/>
              </a:lnSpc>
            </a:pPr>
          </a:p>
          <a:p>
            <a:pPr algn="just" marL="734059" indent="-367030" lvl="1">
              <a:lnSpc>
                <a:spcPts val="5269"/>
              </a:lnSpc>
              <a:buFont typeface="Arial"/>
              <a:buChar char="•"/>
            </a:pPr>
            <a:r>
              <a:rPr lang="en-US" sz="3399">
                <a:solidFill>
                  <a:srgbClr val="000000"/>
                </a:solidFill>
                <a:latin typeface="Open Sans"/>
                <a:ea typeface="Open Sans"/>
                <a:cs typeface="Open Sans"/>
                <a:sym typeface="Open Sans"/>
              </a:rPr>
              <a:t>Những kỹ thuật nhóm sử dụng giúp tạo ra một hệ thống dự đoán mạnh mẽ, </a:t>
            </a:r>
            <a:r>
              <a:rPr lang="en-US" b="true" sz="3399" i="true">
                <a:solidFill>
                  <a:srgbClr val="000000"/>
                </a:solidFill>
                <a:latin typeface="Open Sans Bold Italics"/>
                <a:ea typeface="Open Sans Bold Italics"/>
                <a:cs typeface="Open Sans Bold Italics"/>
                <a:sym typeface="Open Sans Bold Italics"/>
              </a:rPr>
              <a:t>ổn định</a:t>
            </a:r>
            <a:r>
              <a:rPr lang="en-US" sz="3399">
                <a:solidFill>
                  <a:srgbClr val="000000"/>
                </a:solidFill>
                <a:latin typeface="Open Sans"/>
                <a:ea typeface="Open Sans"/>
                <a:cs typeface="Open Sans"/>
                <a:sym typeface="Open Sans"/>
              </a:rPr>
              <a:t> và </a:t>
            </a:r>
            <a:r>
              <a:rPr lang="en-US" b="true" sz="3399" i="true">
                <a:solidFill>
                  <a:srgbClr val="000000"/>
                </a:solidFill>
                <a:latin typeface="Open Sans Bold Italics"/>
                <a:ea typeface="Open Sans Bold Italics"/>
                <a:cs typeface="Open Sans Bold Italics"/>
                <a:sym typeface="Open Sans Bold Italics"/>
              </a:rPr>
              <a:t>chính xác</a:t>
            </a:r>
            <a:r>
              <a:rPr lang="en-US" sz="3399">
                <a:solidFill>
                  <a:srgbClr val="000000"/>
                </a:solidFill>
                <a:latin typeface="Open Sans"/>
                <a:ea typeface="Open Sans"/>
                <a:cs typeface="Open Sans"/>
                <a:sym typeface="Open Sans"/>
              </a:rPr>
              <a:t> hơn, phù hợp với các yêu cầu ứng dụng thực tế.</a:t>
            </a:r>
          </a:p>
          <a:p>
            <a:pPr algn="just">
              <a:lnSpc>
                <a:spcPts val="5269"/>
              </a:lnSpc>
            </a:pPr>
          </a:p>
          <a:p>
            <a:pPr algn="just" marL="734059" indent="-367030" lvl="1">
              <a:lnSpc>
                <a:spcPts val="5269"/>
              </a:lnSpc>
              <a:buFont typeface="Arial"/>
              <a:buChar char="•"/>
            </a:pPr>
            <a:r>
              <a:rPr lang="en-US" sz="3399">
                <a:solidFill>
                  <a:srgbClr val="000000"/>
                </a:solidFill>
                <a:latin typeface="Open Sans"/>
                <a:ea typeface="Open Sans"/>
                <a:cs typeface="Open Sans"/>
                <a:sym typeface="Open Sans"/>
              </a:rPr>
              <a:t>Hướng phát triển tương lai: Tối ưu hóa và mở rộng mô hình hiện tại hay nghiên cứu ứng dụng vào thực tế,...</a:t>
            </a:r>
          </a:p>
        </p:txBody>
      </p:sp>
      <p:sp>
        <p:nvSpPr>
          <p:cNvPr name="TextBox 19" id="19"/>
          <p:cNvSpPr txBox="true"/>
          <p:nvPr/>
        </p:nvSpPr>
        <p:spPr>
          <a:xfrm rot="0">
            <a:off x="17483812" y="9407225"/>
            <a:ext cx="439043" cy="552451"/>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Helvetica World Bold"/>
                <a:ea typeface="Helvetica World Bold"/>
                <a:cs typeface="Helvetica World Bold"/>
                <a:sym typeface="Helvetica World Bold"/>
              </a:rPr>
              <a:t>12</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842469" y="0"/>
            <a:ext cx="5416831" cy="12022429"/>
            <a:chOff x="0" y="0"/>
            <a:chExt cx="2858770" cy="6344920"/>
          </a:xfrm>
        </p:grpSpPr>
        <p:sp>
          <p:nvSpPr>
            <p:cNvPr name="Freeform 3" id="3"/>
            <p:cNvSpPr/>
            <p:nvPr/>
          </p:nvSpPr>
          <p:spPr>
            <a:xfrm flipH="false" flipV="false" rot="0">
              <a:off x="0" y="0"/>
              <a:ext cx="2858770" cy="6344920"/>
            </a:xfrm>
            <a:custGeom>
              <a:avLst/>
              <a:gdLst/>
              <a:ahLst/>
              <a:cxnLst/>
              <a:rect r="r" b="b" t="t" l="l"/>
              <a:pathLst>
                <a:path h="6344920" w="285877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03496" t="0" r="-129630" b="0"/>
              </a:stretch>
            </a:blipFill>
          </p:spPr>
        </p:sp>
      </p:grpSp>
      <p:grpSp>
        <p:nvGrpSpPr>
          <p:cNvPr name="Group 4" id="4"/>
          <p:cNvGrpSpPr/>
          <p:nvPr/>
        </p:nvGrpSpPr>
        <p:grpSpPr>
          <a:xfrm rot="0">
            <a:off x="17259300" y="7109187"/>
            <a:ext cx="1028700" cy="3177813"/>
            <a:chOff x="0" y="0"/>
            <a:chExt cx="812800" cy="2510865"/>
          </a:xfrm>
        </p:grpSpPr>
        <p:sp>
          <p:nvSpPr>
            <p:cNvPr name="Freeform 5" id="5"/>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6" id="6"/>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7259300" y="0"/>
            <a:ext cx="1028700" cy="10287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9" id="9"/>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09914" y="0"/>
            <a:ext cx="1694792" cy="10287000"/>
            <a:chOff x="0" y="0"/>
            <a:chExt cx="446365" cy="2709333"/>
          </a:xfrm>
        </p:grpSpPr>
        <p:sp>
          <p:nvSpPr>
            <p:cNvPr name="Freeform 11" id="11"/>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12" id="12"/>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853887" y="786854"/>
            <a:ext cx="1977164" cy="197716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2058241" y="3521126"/>
            <a:ext cx="8795646" cy="1622374"/>
          </a:xfrm>
          <a:prstGeom prst="rect">
            <a:avLst/>
          </a:prstGeom>
        </p:spPr>
        <p:txBody>
          <a:bodyPr anchor="t" rtlCol="false" tIns="0" lIns="0" bIns="0" rIns="0">
            <a:spAutoFit/>
          </a:bodyPr>
          <a:lstStyle/>
          <a:p>
            <a:pPr algn="l">
              <a:lnSpc>
                <a:spcPts val="12649"/>
              </a:lnSpc>
            </a:pPr>
            <a:r>
              <a:rPr lang="en-US" sz="10999" b="true">
                <a:solidFill>
                  <a:srgbClr val="000000"/>
                </a:solidFill>
                <a:latin typeface="Garet Bold"/>
                <a:ea typeface="Garet Bold"/>
                <a:cs typeface="Garet Bold"/>
                <a:sym typeface="Garet Bold"/>
              </a:rPr>
              <a:t>THANK YOU</a:t>
            </a:r>
          </a:p>
        </p:txBody>
      </p:sp>
      <p:grpSp>
        <p:nvGrpSpPr>
          <p:cNvPr name="Group 17" id="17"/>
          <p:cNvGrpSpPr/>
          <p:nvPr/>
        </p:nvGrpSpPr>
        <p:grpSpPr>
          <a:xfrm rot="0">
            <a:off x="6828758" y="6712412"/>
            <a:ext cx="2545888" cy="254588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3622779" y="9258300"/>
            <a:ext cx="2545888" cy="254588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DAGHCoA_03Q</dc:identifier>
  <dcterms:modified xsi:type="dcterms:W3CDTF">2011-08-01T06:04:30Z</dcterms:modified>
  <cp:revision>1</cp:revision>
  <dc:title>Báo cáo CS116_Nhóm 14</dc:title>
</cp:coreProperties>
</file>